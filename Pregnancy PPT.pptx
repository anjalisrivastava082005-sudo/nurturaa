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60" r:id="rId4"/>
    <p:sldId id="263" r:id="rId5"/>
    <p:sldId id="262" r:id="rId6"/>
    <p:sldId id="261" r:id="rId7"/>
    <p:sldId id="266" r:id="rId8"/>
    <p:sldId id="267" r:id="rId9"/>
    <p:sldId id="265"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Untitled Section" id="{0AF589F1-CE5B-45DF-A630-643C07EA9EBE}">
          <p14:sldIdLst/>
        </p14:section>
        <p14:section name="Default Section" id="{1AA71985-4421-4C00-B31D-C2509425A91A}">
          <p14:sldIdLst/>
        </p14:section>
        <p14:section name="Untitled Section" id="{0F5A3943-4AD7-4380-A175-564B7FE96F0F}">
          <p14:sldIdLst>
            <p14:sldId id="257"/>
            <p14:sldId id="258"/>
            <p14:sldId id="260"/>
            <p14:sldId id="263"/>
            <p14:sldId id="262"/>
            <p14:sldId id="261"/>
            <p14:sldId id="266"/>
            <p14:sldId id="267"/>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E363284-0E64-40D9-8036-141EABCF6DF1}" v="11" dt="2025-11-06T10:05:01.13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0" d="100"/>
          <a:sy n="90" d="100"/>
        </p:scale>
        <p:origin x="37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CBBA7F-4681-C269-D911-110507C88C2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29827A4-70D2-49E9-6430-C90BCBC67BD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07A0326-73CA-2238-F4A0-60C470AD8765}"/>
              </a:ext>
            </a:extLst>
          </p:cNvPr>
          <p:cNvSpPr>
            <a:spLocks noGrp="1"/>
          </p:cNvSpPr>
          <p:nvPr>
            <p:ph type="dt" sz="half" idx="10"/>
          </p:nvPr>
        </p:nvSpPr>
        <p:spPr/>
        <p:txBody>
          <a:bodyPr/>
          <a:lstStyle/>
          <a:p>
            <a:fld id="{415001E3-E790-4F4D-A8BE-F053A5CA57EF}" type="datetimeFigureOut">
              <a:rPr lang="en-US" smtClean="0"/>
              <a:t>11/6/2025</a:t>
            </a:fld>
            <a:endParaRPr lang="en-US"/>
          </a:p>
        </p:txBody>
      </p:sp>
      <p:sp>
        <p:nvSpPr>
          <p:cNvPr id="5" name="Footer Placeholder 4">
            <a:extLst>
              <a:ext uri="{FF2B5EF4-FFF2-40B4-BE49-F238E27FC236}">
                <a16:creationId xmlns:a16="http://schemas.microsoft.com/office/drawing/2014/main" id="{E63147C5-C7EB-2F02-F992-749079C7A23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E626A93-5CCE-E7A8-824B-6EA9A1EDA9CC}"/>
              </a:ext>
            </a:extLst>
          </p:cNvPr>
          <p:cNvSpPr>
            <a:spLocks noGrp="1"/>
          </p:cNvSpPr>
          <p:nvPr>
            <p:ph type="sldNum" sz="quarter" idx="12"/>
          </p:nvPr>
        </p:nvSpPr>
        <p:spPr/>
        <p:txBody>
          <a:bodyPr/>
          <a:lstStyle/>
          <a:p>
            <a:fld id="{C4D3EAFD-991B-43A9-B032-180E55282D22}" type="slidenum">
              <a:rPr lang="en-US" smtClean="0"/>
              <a:t>‹#›</a:t>
            </a:fld>
            <a:endParaRPr lang="en-US"/>
          </a:p>
        </p:txBody>
      </p:sp>
    </p:spTree>
    <p:extLst>
      <p:ext uri="{BB962C8B-B14F-4D97-AF65-F5344CB8AC3E}">
        <p14:creationId xmlns:p14="http://schemas.microsoft.com/office/powerpoint/2010/main" val="42795799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4973BC-A4D4-3CD2-D787-A84B385C5D0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57FC19E-E18A-360C-403B-8F6BBA13CB9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9E6D6EB-0D8E-DC47-FD4C-3402AC3AEEC7}"/>
              </a:ext>
            </a:extLst>
          </p:cNvPr>
          <p:cNvSpPr>
            <a:spLocks noGrp="1"/>
          </p:cNvSpPr>
          <p:nvPr>
            <p:ph type="dt" sz="half" idx="10"/>
          </p:nvPr>
        </p:nvSpPr>
        <p:spPr/>
        <p:txBody>
          <a:bodyPr/>
          <a:lstStyle/>
          <a:p>
            <a:fld id="{415001E3-E790-4F4D-A8BE-F053A5CA57EF}" type="datetimeFigureOut">
              <a:rPr lang="en-US" smtClean="0"/>
              <a:t>11/6/2025</a:t>
            </a:fld>
            <a:endParaRPr lang="en-US"/>
          </a:p>
        </p:txBody>
      </p:sp>
      <p:sp>
        <p:nvSpPr>
          <p:cNvPr id="5" name="Footer Placeholder 4">
            <a:extLst>
              <a:ext uri="{FF2B5EF4-FFF2-40B4-BE49-F238E27FC236}">
                <a16:creationId xmlns:a16="http://schemas.microsoft.com/office/drawing/2014/main" id="{53B27763-1CAD-C08C-2DB6-52150E3FD35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DDDE1B8-77CD-B471-71CA-C88F5C8F42EB}"/>
              </a:ext>
            </a:extLst>
          </p:cNvPr>
          <p:cNvSpPr>
            <a:spLocks noGrp="1"/>
          </p:cNvSpPr>
          <p:nvPr>
            <p:ph type="sldNum" sz="quarter" idx="12"/>
          </p:nvPr>
        </p:nvSpPr>
        <p:spPr/>
        <p:txBody>
          <a:bodyPr/>
          <a:lstStyle/>
          <a:p>
            <a:fld id="{C4D3EAFD-991B-43A9-B032-180E55282D22}" type="slidenum">
              <a:rPr lang="en-US" smtClean="0"/>
              <a:t>‹#›</a:t>
            </a:fld>
            <a:endParaRPr lang="en-US"/>
          </a:p>
        </p:txBody>
      </p:sp>
    </p:spTree>
    <p:extLst>
      <p:ext uri="{BB962C8B-B14F-4D97-AF65-F5344CB8AC3E}">
        <p14:creationId xmlns:p14="http://schemas.microsoft.com/office/powerpoint/2010/main" val="21061756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91A993-FEEE-EC7B-8239-FD8F66C7C8D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2855154-1DC8-8EE9-2A09-E006F32D213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7488B3D-7A39-2D2B-2094-7A4E2C68E5B3}"/>
              </a:ext>
            </a:extLst>
          </p:cNvPr>
          <p:cNvSpPr>
            <a:spLocks noGrp="1"/>
          </p:cNvSpPr>
          <p:nvPr>
            <p:ph type="dt" sz="half" idx="10"/>
          </p:nvPr>
        </p:nvSpPr>
        <p:spPr/>
        <p:txBody>
          <a:bodyPr/>
          <a:lstStyle/>
          <a:p>
            <a:fld id="{415001E3-E790-4F4D-A8BE-F053A5CA57EF}" type="datetimeFigureOut">
              <a:rPr lang="en-US" smtClean="0"/>
              <a:t>11/6/2025</a:t>
            </a:fld>
            <a:endParaRPr lang="en-US"/>
          </a:p>
        </p:txBody>
      </p:sp>
      <p:sp>
        <p:nvSpPr>
          <p:cNvPr id="5" name="Footer Placeholder 4">
            <a:extLst>
              <a:ext uri="{FF2B5EF4-FFF2-40B4-BE49-F238E27FC236}">
                <a16:creationId xmlns:a16="http://schemas.microsoft.com/office/drawing/2014/main" id="{8BD8B873-A5DF-C862-0936-6EA0269502B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3892684-A230-CFA5-8131-37827CC97C72}"/>
              </a:ext>
            </a:extLst>
          </p:cNvPr>
          <p:cNvSpPr>
            <a:spLocks noGrp="1"/>
          </p:cNvSpPr>
          <p:nvPr>
            <p:ph type="sldNum" sz="quarter" idx="12"/>
          </p:nvPr>
        </p:nvSpPr>
        <p:spPr/>
        <p:txBody>
          <a:bodyPr/>
          <a:lstStyle/>
          <a:p>
            <a:fld id="{C4D3EAFD-991B-43A9-B032-180E55282D22}" type="slidenum">
              <a:rPr lang="en-US" smtClean="0"/>
              <a:t>‹#›</a:t>
            </a:fld>
            <a:endParaRPr lang="en-US"/>
          </a:p>
        </p:txBody>
      </p:sp>
    </p:spTree>
    <p:extLst>
      <p:ext uri="{BB962C8B-B14F-4D97-AF65-F5344CB8AC3E}">
        <p14:creationId xmlns:p14="http://schemas.microsoft.com/office/powerpoint/2010/main" val="10549324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D7D374-4EC7-06DD-2086-0CA1A31ED74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0AB52A2-7E59-15F1-BDEB-1CC16F1AE8F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6682521-B7F6-8E41-6678-92108A5A659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30735B1-3323-3567-FD2E-89A8FD497ECC}"/>
              </a:ext>
            </a:extLst>
          </p:cNvPr>
          <p:cNvSpPr>
            <a:spLocks noGrp="1"/>
          </p:cNvSpPr>
          <p:nvPr>
            <p:ph type="dt" sz="half" idx="10"/>
          </p:nvPr>
        </p:nvSpPr>
        <p:spPr/>
        <p:txBody>
          <a:bodyPr/>
          <a:lstStyle/>
          <a:p>
            <a:fld id="{415001E3-E790-4F4D-A8BE-F053A5CA57EF}" type="datetimeFigureOut">
              <a:rPr lang="en-US" smtClean="0"/>
              <a:t>11/6/2025</a:t>
            </a:fld>
            <a:endParaRPr lang="en-US"/>
          </a:p>
        </p:txBody>
      </p:sp>
      <p:sp>
        <p:nvSpPr>
          <p:cNvPr id="6" name="Footer Placeholder 5">
            <a:extLst>
              <a:ext uri="{FF2B5EF4-FFF2-40B4-BE49-F238E27FC236}">
                <a16:creationId xmlns:a16="http://schemas.microsoft.com/office/drawing/2014/main" id="{8E2E652E-F3D9-E78D-B8C8-9C055B9F0FB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63D043E-535C-E4E4-AB0A-8B824504F04F}"/>
              </a:ext>
            </a:extLst>
          </p:cNvPr>
          <p:cNvSpPr>
            <a:spLocks noGrp="1"/>
          </p:cNvSpPr>
          <p:nvPr>
            <p:ph type="sldNum" sz="quarter" idx="12"/>
          </p:nvPr>
        </p:nvSpPr>
        <p:spPr/>
        <p:txBody>
          <a:bodyPr/>
          <a:lstStyle/>
          <a:p>
            <a:fld id="{C4D3EAFD-991B-43A9-B032-180E55282D22}" type="slidenum">
              <a:rPr lang="en-US" smtClean="0"/>
              <a:t>‹#›</a:t>
            </a:fld>
            <a:endParaRPr lang="en-US"/>
          </a:p>
        </p:txBody>
      </p:sp>
    </p:spTree>
    <p:extLst>
      <p:ext uri="{BB962C8B-B14F-4D97-AF65-F5344CB8AC3E}">
        <p14:creationId xmlns:p14="http://schemas.microsoft.com/office/powerpoint/2010/main" val="5369623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63003D-C0DB-0FDB-A504-46E5CF2C052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BAB6E3E-C54B-F830-1A26-A786F2D3F71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08A3D56-203D-8DE6-BEF4-EC848BA5F85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B6F8DAF-C72A-14A3-41C9-2765DD56DA4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C5EDC75-80A0-845B-F8AC-B1D7E1B589B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CA7C8E5-227B-9673-B620-A059C4A7A920}"/>
              </a:ext>
            </a:extLst>
          </p:cNvPr>
          <p:cNvSpPr>
            <a:spLocks noGrp="1"/>
          </p:cNvSpPr>
          <p:nvPr>
            <p:ph type="dt" sz="half" idx="10"/>
          </p:nvPr>
        </p:nvSpPr>
        <p:spPr/>
        <p:txBody>
          <a:bodyPr/>
          <a:lstStyle/>
          <a:p>
            <a:fld id="{415001E3-E790-4F4D-A8BE-F053A5CA57EF}" type="datetimeFigureOut">
              <a:rPr lang="en-US" smtClean="0"/>
              <a:t>11/6/2025</a:t>
            </a:fld>
            <a:endParaRPr lang="en-US"/>
          </a:p>
        </p:txBody>
      </p:sp>
      <p:sp>
        <p:nvSpPr>
          <p:cNvPr id="8" name="Footer Placeholder 7">
            <a:extLst>
              <a:ext uri="{FF2B5EF4-FFF2-40B4-BE49-F238E27FC236}">
                <a16:creationId xmlns:a16="http://schemas.microsoft.com/office/drawing/2014/main" id="{9AB178EA-7100-7959-4FFE-4AB8FBF709C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3176745-0214-065B-BF85-E3C0C1FFA05B}"/>
              </a:ext>
            </a:extLst>
          </p:cNvPr>
          <p:cNvSpPr>
            <a:spLocks noGrp="1"/>
          </p:cNvSpPr>
          <p:nvPr>
            <p:ph type="sldNum" sz="quarter" idx="12"/>
          </p:nvPr>
        </p:nvSpPr>
        <p:spPr/>
        <p:txBody>
          <a:bodyPr/>
          <a:lstStyle/>
          <a:p>
            <a:fld id="{C4D3EAFD-991B-43A9-B032-180E55282D22}" type="slidenum">
              <a:rPr lang="en-US" smtClean="0"/>
              <a:t>‹#›</a:t>
            </a:fld>
            <a:endParaRPr lang="en-US"/>
          </a:p>
        </p:txBody>
      </p:sp>
    </p:spTree>
    <p:extLst>
      <p:ext uri="{BB962C8B-B14F-4D97-AF65-F5344CB8AC3E}">
        <p14:creationId xmlns:p14="http://schemas.microsoft.com/office/powerpoint/2010/main" val="2618382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D8A2C4-AEC6-A11F-BB08-7FC136CBD4B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C0C64E9-3129-12AE-CF26-482BB9409853}"/>
              </a:ext>
            </a:extLst>
          </p:cNvPr>
          <p:cNvSpPr>
            <a:spLocks noGrp="1"/>
          </p:cNvSpPr>
          <p:nvPr>
            <p:ph type="dt" sz="half" idx="10"/>
          </p:nvPr>
        </p:nvSpPr>
        <p:spPr/>
        <p:txBody>
          <a:bodyPr/>
          <a:lstStyle/>
          <a:p>
            <a:fld id="{415001E3-E790-4F4D-A8BE-F053A5CA57EF}" type="datetimeFigureOut">
              <a:rPr lang="en-US" smtClean="0"/>
              <a:t>11/6/2025</a:t>
            </a:fld>
            <a:endParaRPr lang="en-US"/>
          </a:p>
        </p:txBody>
      </p:sp>
      <p:sp>
        <p:nvSpPr>
          <p:cNvPr id="4" name="Footer Placeholder 3">
            <a:extLst>
              <a:ext uri="{FF2B5EF4-FFF2-40B4-BE49-F238E27FC236}">
                <a16:creationId xmlns:a16="http://schemas.microsoft.com/office/drawing/2014/main" id="{536A410E-4355-5585-0D2E-6C4ABA4F8DB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31AADB0-AD15-09EE-9B4E-4363FA63C9E9}"/>
              </a:ext>
            </a:extLst>
          </p:cNvPr>
          <p:cNvSpPr>
            <a:spLocks noGrp="1"/>
          </p:cNvSpPr>
          <p:nvPr>
            <p:ph type="sldNum" sz="quarter" idx="12"/>
          </p:nvPr>
        </p:nvSpPr>
        <p:spPr/>
        <p:txBody>
          <a:bodyPr/>
          <a:lstStyle/>
          <a:p>
            <a:fld id="{C4D3EAFD-991B-43A9-B032-180E55282D22}" type="slidenum">
              <a:rPr lang="en-US" smtClean="0"/>
              <a:t>‹#›</a:t>
            </a:fld>
            <a:endParaRPr lang="en-US"/>
          </a:p>
        </p:txBody>
      </p:sp>
    </p:spTree>
    <p:extLst>
      <p:ext uri="{BB962C8B-B14F-4D97-AF65-F5344CB8AC3E}">
        <p14:creationId xmlns:p14="http://schemas.microsoft.com/office/powerpoint/2010/main" val="40206106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504DBC7-128A-2C0A-4DB1-9770C47C9FEC}"/>
              </a:ext>
            </a:extLst>
          </p:cNvPr>
          <p:cNvSpPr>
            <a:spLocks noGrp="1"/>
          </p:cNvSpPr>
          <p:nvPr>
            <p:ph type="dt" sz="half" idx="10"/>
          </p:nvPr>
        </p:nvSpPr>
        <p:spPr/>
        <p:txBody>
          <a:bodyPr/>
          <a:lstStyle/>
          <a:p>
            <a:fld id="{415001E3-E790-4F4D-A8BE-F053A5CA57EF}" type="datetimeFigureOut">
              <a:rPr lang="en-US" smtClean="0"/>
              <a:t>11/6/2025</a:t>
            </a:fld>
            <a:endParaRPr lang="en-US"/>
          </a:p>
        </p:txBody>
      </p:sp>
      <p:sp>
        <p:nvSpPr>
          <p:cNvPr id="3" name="Footer Placeholder 2">
            <a:extLst>
              <a:ext uri="{FF2B5EF4-FFF2-40B4-BE49-F238E27FC236}">
                <a16:creationId xmlns:a16="http://schemas.microsoft.com/office/drawing/2014/main" id="{A633805C-E5CE-ACF9-1B30-60421B67D4E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079B2FC-E001-AFE3-CD8D-E0C66B11BB4B}"/>
              </a:ext>
            </a:extLst>
          </p:cNvPr>
          <p:cNvSpPr>
            <a:spLocks noGrp="1"/>
          </p:cNvSpPr>
          <p:nvPr>
            <p:ph type="sldNum" sz="quarter" idx="12"/>
          </p:nvPr>
        </p:nvSpPr>
        <p:spPr/>
        <p:txBody>
          <a:bodyPr/>
          <a:lstStyle/>
          <a:p>
            <a:fld id="{C4D3EAFD-991B-43A9-B032-180E55282D22}" type="slidenum">
              <a:rPr lang="en-US" smtClean="0"/>
              <a:t>‹#›</a:t>
            </a:fld>
            <a:endParaRPr lang="en-US"/>
          </a:p>
        </p:txBody>
      </p:sp>
    </p:spTree>
    <p:extLst>
      <p:ext uri="{BB962C8B-B14F-4D97-AF65-F5344CB8AC3E}">
        <p14:creationId xmlns:p14="http://schemas.microsoft.com/office/powerpoint/2010/main" val="36330633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6FDF02-C0BB-2C26-401C-2267F783053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3D5564B-8D0C-AAD8-DC1F-944FFE7CDEE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73C1FF7-4C44-C2EF-0652-1C77F6D1D5C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111F254-760F-CCCD-807A-05942158EDCE}"/>
              </a:ext>
            </a:extLst>
          </p:cNvPr>
          <p:cNvSpPr>
            <a:spLocks noGrp="1"/>
          </p:cNvSpPr>
          <p:nvPr>
            <p:ph type="dt" sz="half" idx="10"/>
          </p:nvPr>
        </p:nvSpPr>
        <p:spPr/>
        <p:txBody>
          <a:bodyPr/>
          <a:lstStyle/>
          <a:p>
            <a:fld id="{415001E3-E790-4F4D-A8BE-F053A5CA57EF}" type="datetimeFigureOut">
              <a:rPr lang="en-US" smtClean="0"/>
              <a:t>11/6/2025</a:t>
            </a:fld>
            <a:endParaRPr lang="en-US"/>
          </a:p>
        </p:txBody>
      </p:sp>
      <p:sp>
        <p:nvSpPr>
          <p:cNvPr id="6" name="Footer Placeholder 5">
            <a:extLst>
              <a:ext uri="{FF2B5EF4-FFF2-40B4-BE49-F238E27FC236}">
                <a16:creationId xmlns:a16="http://schemas.microsoft.com/office/drawing/2014/main" id="{330D5021-8130-2929-55C5-4FBCBABF9DB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F8DCF66-1906-DB2D-2C38-08674BA5B8BD}"/>
              </a:ext>
            </a:extLst>
          </p:cNvPr>
          <p:cNvSpPr>
            <a:spLocks noGrp="1"/>
          </p:cNvSpPr>
          <p:nvPr>
            <p:ph type="sldNum" sz="quarter" idx="12"/>
          </p:nvPr>
        </p:nvSpPr>
        <p:spPr/>
        <p:txBody>
          <a:bodyPr/>
          <a:lstStyle/>
          <a:p>
            <a:fld id="{C4D3EAFD-991B-43A9-B032-180E55282D22}" type="slidenum">
              <a:rPr lang="en-US" smtClean="0"/>
              <a:t>‹#›</a:t>
            </a:fld>
            <a:endParaRPr lang="en-US"/>
          </a:p>
        </p:txBody>
      </p:sp>
    </p:spTree>
    <p:extLst>
      <p:ext uri="{BB962C8B-B14F-4D97-AF65-F5344CB8AC3E}">
        <p14:creationId xmlns:p14="http://schemas.microsoft.com/office/powerpoint/2010/main" val="9187589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4E8B54-C8FD-D947-A524-1C1B14C76A4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3EF45E6-C3AE-D2F6-40EE-E3C15C9CC88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2C8CCC8-5BD3-8990-1247-072391E3E14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06F8653-A52F-0E99-7C17-8919CDE3FAE5}"/>
              </a:ext>
            </a:extLst>
          </p:cNvPr>
          <p:cNvSpPr>
            <a:spLocks noGrp="1"/>
          </p:cNvSpPr>
          <p:nvPr>
            <p:ph type="dt" sz="half" idx="10"/>
          </p:nvPr>
        </p:nvSpPr>
        <p:spPr/>
        <p:txBody>
          <a:bodyPr/>
          <a:lstStyle/>
          <a:p>
            <a:fld id="{415001E3-E790-4F4D-A8BE-F053A5CA57EF}" type="datetimeFigureOut">
              <a:rPr lang="en-US" smtClean="0"/>
              <a:t>11/6/2025</a:t>
            </a:fld>
            <a:endParaRPr lang="en-US"/>
          </a:p>
        </p:txBody>
      </p:sp>
      <p:sp>
        <p:nvSpPr>
          <p:cNvPr id="6" name="Footer Placeholder 5">
            <a:extLst>
              <a:ext uri="{FF2B5EF4-FFF2-40B4-BE49-F238E27FC236}">
                <a16:creationId xmlns:a16="http://schemas.microsoft.com/office/drawing/2014/main" id="{1E89A2E8-C9F4-46D6-F90F-C6F0C61DE4D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C69E98A-D14E-F7A3-A254-868C68DC0967}"/>
              </a:ext>
            </a:extLst>
          </p:cNvPr>
          <p:cNvSpPr>
            <a:spLocks noGrp="1"/>
          </p:cNvSpPr>
          <p:nvPr>
            <p:ph type="sldNum" sz="quarter" idx="12"/>
          </p:nvPr>
        </p:nvSpPr>
        <p:spPr/>
        <p:txBody>
          <a:bodyPr/>
          <a:lstStyle/>
          <a:p>
            <a:fld id="{C4D3EAFD-991B-43A9-B032-180E55282D22}" type="slidenum">
              <a:rPr lang="en-US" smtClean="0"/>
              <a:t>‹#›</a:t>
            </a:fld>
            <a:endParaRPr lang="en-US"/>
          </a:p>
        </p:txBody>
      </p:sp>
    </p:spTree>
    <p:extLst>
      <p:ext uri="{BB962C8B-B14F-4D97-AF65-F5344CB8AC3E}">
        <p14:creationId xmlns:p14="http://schemas.microsoft.com/office/powerpoint/2010/main" val="6652021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255B35-AB00-BA20-F0C3-567552BF0A3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DDEB300-002E-75F0-AA42-ACA8465C306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9BDA145-8C1C-7D36-5A16-0BA04FC77ACE}"/>
              </a:ext>
            </a:extLst>
          </p:cNvPr>
          <p:cNvSpPr>
            <a:spLocks noGrp="1"/>
          </p:cNvSpPr>
          <p:nvPr>
            <p:ph type="dt" sz="half" idx="10"/>
          </p:nvPr>
        </p:nvSpPr>
        <p:spPr/>
        <p:txBody>
          <a:bodyPr/>
          <a:lstStyle/>
          <a:p>
            <a:fld id="{415001E3-E790-4F4D-A8BE-F053A5CA57EF}" type="datetimeFigureOut">
              <a:rPr lang="en-US" smtClean="0"/>
              <a:t>11/6/2025</a:t>
            </a:fld>
            <a:endParaRPr lang="en-US"/>
          </a:p>
        </p:txBody>
      </p:sp>
      <p:sp>
        <p:nvSpPr>
          <p:cNvPr id="5" name="Footer Placeholder 4">
            <a:extLst>
              <a:ext uri="{FF2B5EF4-FFF2-40B4-BE49-F238E27FC236}">
                <a16:creationId xmlns:a16="http://schemas.microsoft.com/office/drawing/2014/main" id="{5C1E3052-1C48-A30A-A490-02F62F091F9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BA820ED-A5D4-A44E-DABB-B3691CBEE5F9}"/>
              </a:ext>
            </a:extLst>
          </p:cNvPr>
          <p:cNvSpPr>
            <a:spLocks noGrp="1"/>
          </p:cNvSpPr>
          <p:nvPr>
            <p:ph type="sldNum" sz="quarter" idx="12"/>
          </p:nvPr>
        </p:nvSpPr>
        <p:spPr/>
        <p:txBody>
          <a:bodyPr/>
          <a:lstStyle/>
          <a:p>
            <a:fld id="{C4D3EAFD-991B-43A9-B032-180E55282D22}" type="slidenum">
              <a:rPr lang="en-US" smtClean="0"/>
              <a:t>‹#›</a:t>
            </a:fld>
            <a:endParaRPr lang="en-US"/>
          </a:p>
        </p:txBody>
      </p:sp>
    </p:spTree>
    <p:extLst>
      <p:ext uri="{BB962C8B-B14F-4D97-AF65-F5344CB8AC3E}">
        <p14:creationId xmlns:p14="http://schemas.microsoft.com/office/powerpoint/2010/main" val="15120376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0F5C993-B787-4065-F6BF-D541060C570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76F1F56-57D5-563A-C098-B3C0774FC1A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66169EB-D5CF-65B1-499E-A65D44574159}"/>
              </a:ext>
            </a:extLst>
          </p:cNvPr>
          <p:cNvSpPr>
            <a:spLocks noGrp="1"/>
          </p:cNvSpPr>
          <p:nvPr>
            <p:ph type="dt" sz="half" idx="10"/>
          </p:nvPr>
        </p:nvSpPr>
        <p:spPr/>
        <p:txBody>
          <a:bodyPr/>
          <a:lstStyle/>
          <a:p>
            <a:fld id="{415001E3-E790-4F4D-A8BE-F053A5CA57EF}" type="datetimeFigureOut">
              <a:rPr lang="en-US" smtClean="0"/>
              <a:t>11/6/2025</a:t>
            </a:fld>
            <a:endParaRPr lang="en-US"/>
          </a:p>
        </p:txBody>
      </p:sp>
      <p:sp>
        <p:nvSpPr>
          <p:cNvPr id="5" name="Footer Placeholder 4">
            <a:extLst>
              <a:ext uri="{FF2B5EF4-FFF2-40B4-BE49-F238E27FC236}">
                <a16:creationId xmlns:a16="http://schemas.microsoft.com/office/drawing/2014/main" id="{21A8EF7E-D472-4FF4-ACB1-4F6F0C5FE57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A13F65C-AB3F-F449-59F4-0C6C78D219F0}"/>
              </a:ext>
            </a:extLst>
          </p:cNvPr>
          <p:cNvSpPr>
            <a:spLocks noGrp="1"/>
          </p:cNvSpPr>
          <p:nvPr>
            <p:ph type="sldNum" sz="quarter" idx="12"/>
          </p:nvPr>
        </p:nvSpPr>
        <p:spPr/>
        <p:txBody>
          <a:bodyPr/>
          <a:lstStyle/>
          <a:p>
            <a:fld id="{C4D3EAFD-991B-43A9-B032-180E55282D22}" type="slidenum">
              <a:rPr lang="en-US" smtClean="0"/>
              <a:t>‹#›</a:t>
            </a:fld>
            <a:endParaRPr lang="en-US"/>
          </a:p>
        </p:txBody>
      </p:sp>
    </p:spTree>
    <p:extLst>
      <p:ext uri="{BB962C8B-B14F-4D97-AF65-F5344CB8AC3E}">
        <p14:creationId xmlns:p14="http://schemas.microsoft.com/office/powerpoint/2010/main" val="7319986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BC4CFE6-EECF-E16F-C008-492A93362FE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AD487B7-412C-64CB-43D0-63008C4AC42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5381A3B-F0E6-8EFD-31DF-FB2F553028C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15001E3-E790-4F4D-A8BE-F053A5CA57EF}" type="datetimeFigureOut">
              <a:rPr lang="en-US" smtClean="0"/>
              <a:t>11/6/2025</a:t>
            </a:fld>
            <a:endParaRPr lang="en-US"/>
          </a:p>
        </p:txBody>
      </p:sp>
      <p:sp>
        <p:nvSpPr>
          <p:cNvPr id="5" name="Footer Placeholder 4">
            <a:extLst>
              <a:ext uri="{FF2B5EF4-FFF2-40B4-BE49-F238E27FC236}">
                <a16:creationId xmlns:a16="http://schemas.microsoft.com/office/drawing/2014/main" id="{C7B9C677-5FBC-2DC7-2EDD-E8D1E18D704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EEEA01C8-C4DE-E9A9-166E-1FAF2F26551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4D3EAFD-991B-43A9-B032-180E55282D22}" type="slidenum">
              <a:rPr lang="en-US" smtClean="0"/>
              <a:t>‹#›</a:t>
            </a:fld>
            <a:endParaRPr lang="en-US"/>
          </a:p>
        </p:txBody>
      </p:sp>
    </p:spTree>
    <p:extLst>
      <p:ext uri="{BB962C8B-B14F-4D97-AF65-F5344CB8AC3E}">
        <p14:creationId xmlns:p14="http://schemas.microsoft.com/office/powerpoint/2010/main" val="176689810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5.xml"/><Relationship Id="rId6" Type="http://schemas.openxmlformats.org/officeDocument/2006/relationships/image" Target="../media/image7.jpeg"/><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8.png"/><Relationship Id="rId1" Type="http://schemas.openxmlformats.org/officeDocument/2006/relationships/slideLayout" Target="../slideLayouts/slideLayout6.xml"/><Relationship Id="rId6" Type="http://schemas.openxmlformats.org/officeDocument/2006/relationships/image" Target="../media/image12.jpg"/><Relationship Id="rId5" Type="http://schemas.openxmlformats.org/officeDocument/2006/relationships/image" Target="../media/image11.jpg"/><Relationship Id="rId4" Type="http://schemas.openxmlformats.org/officeDocument/2006/relationships/image" Target="../media/image10.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hyperlink" Target="https://www.fastercapital.com/content/Pregnancy-Fitness-App--Marketing-Trends-for-Pregnancy-Fitness-Apps--Reaching-the-Millennial-Moms.html?utm_source=chatgpt.com" TargetMode="External"/><Relationship Id="rId2" Type="http://schemas.openxmlformats.org/officeDocument/2006/relationships/hyperlink" Target="https://www.grandviewresearch.com/horizon/outlook/pregnancy-tracking-and-postpartum-care-apps/india?utm_source=chatgpt.com" TargetMode="Externa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7642B8-0F34-2F99-9558-7B240E01D508}"/>
              </a:ext>
            </a:extLst>
          </p:cNvPr>
          <p:cNvSpPr>
            <a:spLocks noGrp="1"/>
          </p:cNvSpPr>
          <p:nvPr>
            <p:ph type="title"/>
          </p:nvPr>
        </p:nvSpPr>
        <p:spPr>
          <a:xfrm>
            <a:off x="261207" y="383330"/>
            <a:ext cx="10515600" cy="6474670"/>
          </a:xfrm>
        </p:spPr>
        <p:txBody>
          <a:bodyPr>
            <a:normAutofit fontScale="90000"/>
          </a:bodyPr>
          <a:lstStyle/>
          <a:p>
            <a:r>
              <a:rPr lang="en-US" sz="3200" i="1" u="sng" dirty="0">
                <a:latin typeface="Arial Black" panose="020B0A04020102020204" pitchFamily="34" charset="0"/>
              </a:rPr>
              <a:t>NURTURA-AI</a:t>
            </a:r>
            <a:br>
              <a:rPr lang="en-US" sz="3200" dirty="0">
                <a:latin typeface="Arial Black" panose="020B0A04020102020204" pitchFamily="34" charset="0"/>
              </a:rPr>
            </a:br>
            <a:r>
              <a:rPr lang="en-US" sz="3200" dirty="0"/>
              <a:t>Smart Companion for Pregnancy &amp; Women’s Wellness</a:t>
            </a:r>
            <a:br>
              <a:rPr lang="en-US" sz="3200" dirty="0"/>
            </a:br>
            <a:br>
              <a:rPr lang="en-US" sz="3200" dirty="0"/>
            </a:br>
            <a:r>
              <a:rPr lang="en-US" sz="2400" dirty="0">
                <a:latin typeface="Arial Black" panose="020B0A04020102020204" pitchFamily="34" charset="0"/>
              </a:rPr>
              <a:t>TAGLINE-</a:t>
            </a:r>
            <a:br>
              <a:rPr lang="en-US" sz="2400" dirty="0">
                <a:latin typeface="Arial Black" panose="020B0A04020102020204" pitchFamily="34" charset="0"/>
              </a:rPr>
            </a:br>
            <a:r>
              <a:rPr lang="en-US" sz="3200" dirty="0"/>
              <a:t>AI-powered care, comfort, and confidence for every mother.</a:t>
            </a:r>
            <a:br>
              <a:rPr lang="en-US" sz="3200" dirty="0"/>
            </a:br>
            <a:br>
              <a:rPr lang="en-US" sz="3200" dirty="0"/>
            </a:br>
            <a:br>
              <a:rPr lang="en-US" sz="3200" dirty="0"/>
            </a:br>
            <a:r>
              <a:rPr lang="en-US" sz="3200" dirty="0"/>
              <a:t>TEAM NAME-TECHTOK</a:t>
            </a:r>
            <a:br>
              <a:rPr lang="en-US" sz="3200" dirty="0"/>
            </a:br>
            <a:r>
              <a:rPr lang="en-US" sz="3200" dirty="0"/>
              <a:t>TEAM MEMBERS- ANJALI SRIVASTAVA AND</a:t>
            </a:r>
            <a:br>
              <a:rPr lang="en-US" sz="3200" dirty="0"/>
            </a:br>
            <a:r>
              <a:rPr lang="en-US" sz="3200" dirty="0"/>
              <a:t>                                      SUNDRAM KUMAR TIWARI</a:t>
            </a:r>
            <a:br>
              <a:rPr lang="en-US" sz="3200" dirty="0"/>
            </a:br>
            <a:r>
              <a:rPr lang="en-US" sz="3200" dirty="0"/>
              <a:t>                                      RAJEEV KUMAR KAUSHIK</a:t>
            </a:r>
            <a:br>
              <a:rPr lang="en-US" sz="3200" dirty="0"/>
            </a:br>
            <a:br>
              <a:rPr lang="en-US" sz="3200" dirty="0"/>
            </a:br>
            <a:r>
              <a:rPr lang="en-US" sz="3200" dirty="0"/>
              <a:t>THEME-HEALTHTECH</a:t>
            </a:r>
            <a:br>
              <a:rPr lang="en-US" sz="3200" dirty="0"/>
            </a:br>
            <a:br>
              <a:rPr lang="en-US" sz="3200" dirty="0"/>
            </a:br>
            <a:br>
              <a:rPr lang="en-US" sz="3200" dirty="0"/>
            </a:br>
            <a:br>
              <a:rPr lang="en-US" sz="3200" dirty="0"/>
            </a:br>
            <a:endParaRPr lang="en-US" sz="3200" dirty="0">
              <a:latin typeface="Arial Black" panose="020B0A04020102020204" pitchFamily="34" charset="0"/>
            </a:endParaRPr>
          </a:p>
        </p:txBody>
      </p:sp>
      <p:pic>
        <p:nvPicPr>
          <p:cNvPr id="4" name="Picture 3" descr="A pink outline of a person's face&#10;&#10;AI-generated content may be incorrect.">
            <a:extLst>
              <a:ext uri="{FF2B5EF4-FFF2-40B4-BE49-F238E27FC236}">
                <a16:creationId xmlns:a16="http://schemas.microsoft.com/office/drawing/2014/main" id="{EA43E4A9-A6EF-1B4E-A80D-F55F6D544A9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62681" y="153458"/>
            <a:ext cx="1531386" cy="2657475"/>
          </a:xfrm>
          <a:prstGeom prst="rect">
            <a:avLst/>
          </a:prstGeom>
        </p:spPr>
      </p:pic>
      <p:pic>
        <p:nvPicPr>
          <p:cNvPr id="6" name="Picture 5" descr="A pregnant person sitting in a lotus position with a robot and a light&#10;&#10;AI-generated content may be incorrect.">
            <a:extLst>
              <a:ext uri="{FF2B5EF4-FFF2-40B4-BE49-F238E27FC236}">
                <a16:creationId xmlns:a16="http://schemas.microsoft.com/office/drawing/2014/main" id="{BE42EEBA-9E43-A476-3018-94D56353380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73393" y="3040805"/>
            <a:ext cx="2057400" cy="2219325"/>
          </a:xfrm>
          <a:prstGeom prst="rect">
            <a:avLst/>
          </a:prstGeom>
        </p:spPr>
      </p:pic>
    </p:spTree>
    <p:extLst>
      <p:ext uri="{BB962C8B-B14F-4D97-AF65-F5344CB8AC3E}">
        <p14:creationId xmlns:p14="http://schemas.microsoft.com/office/powerpoint/2010/main" val="943844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DF216B-05B5-6D03-7F05-BFFFF7A2BE1D}"/>
              </a:ext>
            </a:extLst>
          </p:cNvPr>
          <p:cNvSpPr>
            <a:spLocks noGrp="1"/>
          </p:cNvSpPr>
          <p:nvPr>
            <p:ph type="title"/>
          </p:nvPr>
        </p:nvSpPr>
        <p:spPr>
          <a:xfrm>
            <a:off x="839788" y="0"/>
            <a:ext cx="10515600" cy="3054485"/>
          </a:xfrm>
        </p:spPr>
        <p:txBody>
          <a:bodyPr>
            <a:normAutofit/>
          </a:bodyPr>
          <a:lstStyle/>
          <a:p>
            <a:r>
              <a:rPr lang="en-US" sz="2400">
                <a:latin typeface="Arial Black" panose="020B0A04020102020204" pitchFamily="34" charset="0"/>
              </a:rPr>
              <a:t>PROBLEM STATEMENT-</a:t>
            </a:r>
            <a:br>
              <a:rPr lang="en-US" sz="2400">
                <a:latin typeface="Arial Black" panose="020B0A04020102020204" pitchFamily="34" charset="0"/>
              </a:rPr>
            </a:br>
            <a:r>
              <a:rPr lang="en-US" sz="2000">
                <a:latin typeface="Arial" panose="020B0604020202020204" pitchFamily="34" charset="0"/>
                <a:cs typeface="Arial" panose="020B0604020202020204" pitchFamily="34" charset="0"/>
              </a:rPr>
              <a:t>Pregnant women in India often face challenges in accessing reliable, personalized, and timely information about pregnancy, childcare, and maternal health, leading to anxiety, misinformation, and suboptimal health outcomes. Existing solutions are fragmented, and there's a need for a comprehensive, AI-driven platform that empowers expectant mothers with accurate guidance, support, and resources throughout their pregnancy journey.</a:t>
            </a:r>
            <a:br>
              <a:rPr lang="en-US" sz="2000">
                <a:latin typeface="Arial" panose="020B0604020202020204" pitchFamily="34" charset="0"/>
                <a:cs typeface="Arial" panose="020B0604020202020204" pitchFamily="34" charset="0"/>
              </a:rPr>
            </a:br>
            <a:br>
              <a:rPr lang="en-US" sz="2000">
                <a:latin typeface="Arial" panose="020B0604020202020204" pitchFamily="34" charset="0"/>
                <a:cs typeface="Arial" panose="020B0604020202020204" pitchFamily="34" charset="0"/>
              </a:rPr>
            </a:br>
            <a:br>
              <a:rPr lang="en-US" sz="2000">
                <a:latin typeface="Arial" panose="020B0604020202020204" pitchFamily="34" charset="0"/>
                <a:cs typeface="Arial" panose="020B0604020202020204" pitchFamily="34" charset="0"/>
              </a:rPr>
            </a:br>
            <a:endParaRPr lang="en-US" sz="2000">
              <a:latin typeface="Arial" panose="020B0604020202020204" pitchFamily="34" charset="0"/>
              <a:cs typeface="Arial" panose="020B0604020202020204" pitchFamily="34" charset="0"/>
            </a:endParaRPr>
          </a:p>
        </p:txBody>
      </p:sp>
      <p:sp>
        <p:nvSpPr>
          <p:cNvPr id="3" name="Text Placeholder 2">
            <a:extLst>
              <a:ext uri="{FF2B5EF4-FFF2-40B4-BE49-F238E27FC236}">
                <a16:creationId xmlns:a16="http://schemas.microsoft.com/office/drawing/2014/main" id="{3925117B-5848-580A-244C-023CE53EDF07}"/>
              </a:ext>
            </a:extLst>
          </p:cNvPr>
          <p:cNvSpPr>
            <a:spLocks noGrp="1"/>
          </p:cNvSpPr>
          <p:nvPr>
            <p:ph type="body" idx="1"/>
          </p:nvPr>
        </p:nvSpPr>
        <p:spPr>
          <a:xfrm>
            <a:off x="946793" y="2354094"/>
            <a:ext cx="8876996" cy="2840476"/>
          </a:xfrm>
        </p:spPr>
        <p:txBody>
          <a:bodyPr>
            <a:normAutofit/>
          </a:bodyPr>
          <a:lstStyle/>
          <a:p>
            <a:r>
              <a:rPr lang="en-US" sz="1800">
                <a:latin typeface="Agency FB" panose="020B0503020202020204" pitchFamily="34" charset="0"/>
              </a:rPr>
              <a:t>This leads to:</a:t>
            </a:r>
          </a:p>
          <a:p>
            <a:pPr marL="285750" indent="-285750">
              <a:buFont typeface="Arial" panose="020B0604020202020204" pitchFamily="34" charset="0"/>
              <a:buChar char="•"/>
            </a:pPr>
            <a:r>
              <a:rPr lang="en-US" sz="1800">
                <a:latin typeface="Agency FB" panose="020B0503020202020204" pitchFamily="34" charset="0"/>
              </a:rPr>
              <a:t>Increased anxiety and misinformation,</a:t>
            </a:r>
          </a:p>
          <a:p>
            <a:pPr marL="285750" indent="-285750">
              <a:buFont typeface="Arial" panose="020B0604020202020204" pitchFamily="34" charset="0"/>
              <a:buChar char="•"/>
            </a:pPr>
            <a:r>
              <a:rPr lang="en-US" sz="1800">
                <a:latin typeface="Agency FB" panose="020B0503020202020204" pitchFamily="34" charset="0"/>
              </a:rPr>
              <a:t>Missed prenatal checkups or medication schedules,</a:t>
            </a:r>
          </a:p>
          <a:p>
            <a:pPr marL="285750" indent="-285750">
              <a:buFont typeface="Arial" panose="020B0604020202020204" pitchFamily="34" charset="0"/>
              <a:buChar char="•"/>
            </a:pPr>
            <a:r>
              <a:rPr lang="en-US" sz="1800">
                <a:latin typeface="Agency FB" panose="020B0503020202020204" pitchFamily="34" charset="0"/>
              </a:rPr>
              <a:t>Lack of emotional and mental health support, and</a:t>
            </a:r>
          </a:p>
          <a:p>
            <a:pPr marL="285750" indent="-285750">
              <a:buFont typeface="Arial" panose="020B0604020202020204" pitchFamily="34" charset="0"/>
              <a:buChar char="•"/>
            </a:pPr>
            <a:r>
              <a:rPr lang="en-US" sz="1800">
                <a:latin typeface="Agency FB" panose="020B0503020202020204" pitchFamily="34" charset="0"/>
              </a:rPr>
              <a:t>Difficulty tracking baby growth and health indicators</a:t>
            </a:r>
            <a:r>
              <a:rPr lang="en-US">
                <a:latin typeface="Agency FB" panose="020B0503020202020204" pitchFamily="34" charset="0"/>
              </a:rPr>
              <a:t>.</a:t>
            </a:r>
          </a:p>
          <a:p>
            <a:pPr lvl="3"/>
            <a:endParaRPr lang="en-US" sz="1800">
              <a:latin typeface="Agency FB" panose="020B0503020202020204" pitchFamily="34" charset="0"/>
              <a:cs typeface="Arial" panose="020B0604020202020204" pitchFamily="34" charset="0"/>
            </a:endParaRPr>
          </a:p>
          <a:p>
            <a:pPr marL="342900" indent="-342900">
              <a:buFont typeface="Arial" panose="020B0604020202020204" pitchFamily="34" charset="0"/>
              <a:buChar char="•"/>
            </a:pPr>
            <a:endParaRPr lang="en-US"/>
          </a:p>
        </p:txBody>
      </p:sp>
      <p:pic>
        <p:nvPicPr>
          <p:cNvPr id="8" name="Picture 7" descr="A pregnant person holding a phone&#10;&#10;AI-generated content may be incorrect.">
            <a:extLst>
              <a:ext uri="{FF2B5EF4-FFF2-40B4-BE49-F238E27FC236}">
                <a16:creationId xmlns:a16="http://schemas.microsoft.com/office/drawing/2014/main" id="{2E034E48-F86D-0205-A5B9-A66B9DFA01A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823790" y="1994169"/>
            <a:ext cx="2071944" cy="2295728"/>
          </a:xfrm>
          <a:prstGeom prst="rect">
            <a:avLst/>
          </a:prstGeom>
        </p:spPr>
      </p:pic>
      <p:pic>
        <p:nvPicPr>
          <p:cNvPr id="10" name="Picture 9" descr="A person listening to a stethoscope to a pregnant person&#10;&#10;AI-generated content may be incorrect.">
            <a:extLst>
              <a:ext uri="{FF2B5EF4-FFF2-40B4-BE49-F238E27FC236}">
                <a16:creationId xmlns:a16="http://schemas.microsoft.com/office/drawing/2014/main" id="{2F862750-7023-453D-8188-89DDDE49F7A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23789" y="4501136"/>
            <a:ext cx="2071945" cy="2006668"/>
          </a:xfrm>
          <a:prstGeom prst="rect">
            <a:avLst/>
          </a:prstGeom>
        </p:spPr>
      </p:pic>
      <p:pic>
        <p:nvPicPr>
          <p:cNvPr id="12" name="Picture 11" descr="A person smiling at another person&#10;&#10;AI-generated content may be incorrect.">
            <a:extLst>
              <a:ext uri="{FF2B5EF4-FFF2-40B4-BE49-F238E27FC236}">
                <a16:creationId xmlns:a16="http://schemas.microsoft.com/office/drawing/2014/main" id="{583B831E-BA8F-CFF4-6D24-BEB9584BA21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070817" y="2354094"/>
            <a:ext cx="2287192" cy="4153710"/>
          </a:xfrm>
          <a:prstGeom prst="rect">
            <a:avLst/>
          </a:prstGeom>
        </p:spPr>
      </p:pic>
      <p:pic>
        <p:nvPicPr>
          <p:cNvPr id="14" name="Picture 13" descr="A silhouette of a pregnant person&#10;&#10;AI-generated content may be incorrect.">
            <a:extLst>
              <a:ext uri="{FF2B5EF4-FFF2-40B4-BE49-F238E27FC236}">
                <a16:creationId xmlns:a16="http://schemas.microsoft.com/office/drawing/2014/main" id="{6DCC94C9-D7A6-F881-AE23-51E3941245D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330269" y="4630348"/>
            <a:ext cx="2127466" cy="2113690"/>
          </a:xfrm>
          <a:prstGeom prst="rect">
            <a:avLst/>
          </a:prstGeom>
        </p:spPr>
      </p:pic>
      <p:pic>
        <p:nvPicPr>
          <p:cNvPr id="16" name="Picture 15" descr="A person and a robot looking at a pregnant person&#10;&#10;AI-generated content may be incorrect.">
            <a:extLst>
              <a:ext uri="{FF2B5EF4-FFF2-40B4-BE49-F238E27FC236}">
                <a16:creationId xmlns:a16="http://schemas.microsoft.com/office/drawing/2014/main" id="{8DAF006A-BAEA-2A91-3C14-5857C49F3B7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274216" y="4623408"/>
            <a:ext cx="2187989" cy="2120630"/>
          </a:xfrm>
          <a:prstGeom prst="rect">
            <a:avLst/>
          </a:prstGeom>
        </p:spPr>
      </p:pic>
    </p:spTree>
    <p:extLst>
      <p:ext uri="{BB962C8B-B14F-4D97-AF65-F5344CB8AC3E}">
        <p14:creationId xmlns:p14="http://schemas.microsoft.com/office/powerpoint/2010/main" val="24260401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7778CEC-E6A4-CE9D-A68B-BF489BF2E664}"/>
              </a:ext>
            </a:extLst>
          </p:cNvPr>
          <p:cNvSpPr txBox="1"/>
          <p:nvPr/>
        </p:nvSpPr>
        <p:spPr>
          <a:xfrm>
            <a:off x="575733" y="0"/>
            <a:ext cx="10653229" cy="6617196"/>
          </a:xfrm>
          <a:prstGeom prst="rect">
            <a:avLst/>
          </a:prstGeom>
          <a:noFill/>
        </p:spPr>
        <p:txBody>
          <a:bodyPr wrap="square">
            <a:spAutoFit/>
          </a:bodyPr>
          <a:lstStyle/>
          <a:p>
            <a:pPr>
              <a:buNone/>
            </a:pPr>
            <a:r>
              <a:rPr lang="en-US" sz="3200" b="1" dirty="0"/>
              <a:t>💡 Solution – </a:t>
            </a:r>
            <a:r>
              <a:rPr lang="en-US" sz="3200" b="1" dirty="0" err="1"/>
              <a:t>Nurtura</a:t>
            </a:r>
            <a:r>
              <a:rPr lang="en-US" sz="3200" b="1" dirty="0"/>
              <a:t> AI: Your Smart Pregnancy Companion</a:t>
            </a:r>
          </a:p>
          <a:p>
            <a:pPr>
              <a:buNone/>
            </a:pPr>
            <a:endParaRPr lang="en-US" b="1" dirty="0"/>
          </a:p>
          <a:p>
            <a:pPr>
              <a:buNone/>
            </a:pPr>
            <a:endParaRPr lang="en-US" b="1" dirty="0"/>
          </a:p>
          <a:p>
            <a:pPr>
              <a:buNone/>
            </a:pPr>
            <a:r>
              <a:rPr lang="en-US" b="1" dirty="0" err="1"/>
              <a:t>Nurtura</a:t>
            </a:r>
            <a:r>
              <a:rPr lang="en-US" b="1" dirty="0"/>
              <a:t> AI</a:t>
            </a:r>
            <a:r>
              <a:rPr lang="en-US" dirty="0"/>
              <a:t> is an </a:t>
            </a:r>
            <a:r>
              <a:rPr lang="en-US" b="1" dirty="0"/>
              <a:t>AI-powered pregnancy and wellness assistant</a:t>
            </a:r>
            <a:r>
              <a:rPr lang="en-US" dirty="0"/>
              <a:t> that provides </a:t>
            </a:r>
            <a:r>
              <a:rPr lang="en-US" b="1" dirty="0"/>
              <a:t>personalized guidance, emotional support, and health tracking</a:t>
            </a:r>
            <a:r>
              <a:rPr lang="en-US" dirty="0"/>
              <a:t> to expecting mothers — anytime, anywhere.</a:t>
            </a:r>
          </a:p>
          <a:p>
            <a:pPr>
              <a:buNone/>
            </a:pPr>
            <a:endParaRPr lang="en-US" dirty="0"/>
          </a:p>
          <a:p>
            <a:pPr>
              <a:buNone/>
            </a:pPr>
            <a:r>
              <a:rPr lang="en-US" b="1" dirty="0"/>
              <a:t>🌷 Key Features:</a:t>
            </a:r>
          </a:p>
          <a:p>
            <a:pPr>
              <a:buFont typeface="Arial" panose="020B0604020202020204" pitchFamily="34" charset="0"/>
              <a:buChar char="•"/>
            </a:pPr>
            <a:r>
              <a:rPr lang="en-US" dirty="0"/>
              <a:t>🤖 </a:t>
            </a:r>
            <a:r>
              <a:rPr lang="en-US" b="1" dirty="0"/>
              <a:t>AI Chatbot for Pregnancy Support:</a:t>
            </a:r>
            <a:br>
              <a:rPr lang="en-US" dirty="0"/>
            </a:br>
            <a:r>
              <a:rPr lang="en-US" dirty="0"/>
              <a:t>Offers daily tips, answers health queries, and provides week-by-week pregnancy guidance.</a:t>
            </a:r>
          </a:p>
          <a:p>
            <a:pPr>
              <a:buFont typeface="Arial" panose="020B0604020202020204" pitchFamily="34" charset="0"/>
              <a:buChar char="•"/>
            </a:pPr>
            <a:r>
              <a:rPr lang="en-US" dirty="0"/>
              <a:t>❤️ </a:t>
            </a:r>
            <a:r>
              <a:rPr lang="en-US" b="1" dirty="0"/>
              <a:t>Emotional Wellness &amp; Mental Check-ins:</a:t>
            </a:r>
            <a:br>
              <a:rPr lang="en-US" dirty="0"/>
            </a:br>
            <a:r>
              <a:rPr lang="en-US" dirty="0"/>
              <a:t>Detects mood through chat tone and offers mindfulness exercises or encouragement.</a:t>
            </a:r>
          </a:p>
          <a:p>
            <a:pPr>
              <a:buFont typeface="Arial" panose="020B0604020202020204" pitchFamily="34" charset="0"/>
              <a:buChar char="•"/>
            </a:pPr>
            <a:r>
              <a:rPr lang="en-US" dirty="0"/>
              <a:t>⏰ </a:t>
            </a:r>
            <a:r>
              <a:rPr lang="en-US" b="1" dirty="0"/>
              <a:t>Smart Reminders:</a:t>
            </a:r>
            <a:br>
              <a:rPr lang="en-US" dirty="0"/>
            </a:br>
            <a:r>
              <a:rPr lang="en-US" dirty="0"/>
              <a:t>Notifies about medicines, hydration, nutrition, and doctor appointments.</a:t>
            </a:r>
          </a:p>
          <a:p>
            <a:pPr>
              <a:buFont typeface="Arial" panose="020B0604020202020204" pitchFamily="34" charset="0"/>
              <a:buChar char="•"/>
            </a:pPr>
            <a:r>
              <a:rPr lang="en-US" dirty="0"/>
              <a:t>🌍 </a:t>
            </a:r>
            <a:r>
              <a:rPr lang="en-US" b="1" dirty="0"/>
              <a:t>Inclusive &amp; Multilingual Design:</a:t>
            </a:r>
            <a:br>
              <a:rPr lang="en-US" dirty="0"/>
            </a:br>
            <a:r>
              <a:rPr lang="en-US" dirty="0"/>
              <a:t>Supports multiple Indian languages for wider accessibility.</a:t>
            </a:r>
          </a:p>
          <a:p>
            <a:pPr>
              <a:buFont typeface="Arial" panose="020B0604020202020204" pitchFamily="34" charset="0"/>
              <a:buChar char="•"/>
            </a:pPr>
            <a:r>
              <a:rPr lang="en-US" dirty="0"/>
              <a:t>🩺 </a:t>
            </a:r>
            <a:r>
              <a:rPr lang="en-US" b="1" dirty="0"/>
              <a:t>Data Insights &amp; Health Tracking:</a:t>
            </a:r>
            <a:br>
              <a:rPr lang="en-US" dirty="0"/>
            </a:br>
            <a:r>
              <a:rPr lang="en-US" dirty="0"/>
              <a:t>Tracks vitals and symptoms, integrating with wearables or manual inputs.</a:t>
            </a:r>
          </a:p>
          <a:p>
            <a:pPr>
              <a:buNone/>
            </a:pPr>
            <a:r>
              <a:rPr lang="en-US" b="1" dirty="0"/>
              <a:t>✨ How It Works:</a:t>
            </a:r>
          </a:p>
          <a:p>
            <a:pPr>
              <a:buFont typeface="+mj-lt"/>
              <a:buAutoNum type="arabicPeriod"/>
            </a:pPr>
            <a:r>
              <a:rPr lang="en-US" dirty="0"/>
              <a:t>User logs in and shares pregnancy stage.</a:t>
            </a:r>
          </a:p>
          <a:p>
            <a:pPr>
              <a:buFont typeface="+mj-lt"/>
              <a:buAutoNum type="arabicPeriod"/>
            </a:pPr>
            <a:r>
              <a:rPr lang="en-US" dirty="0"/>
              <a:t>AI personalizes insights and daily care tips.</a:t>
            </a:r>
          </a:p>
          <a:p>
            <a:pPr>
              <a:buFont typeface="+mj-lt"/>
              <a:buAutoNum type="arabicPeriod"/>
            </a:pPr>
            <a:r>
              <a:rPr lang="en-US" dirty="0"/>
              <a:t>Continuous feedback loop improves recommendations and emotional support.</a:t>
            </a:r>
          </a:p>
        </p:txBody>
      </p:sp>
    </p:spTree>
    <p:extLst>
      <p:ext uri="{BB962C8B-B14F-4D97-AF65-F5344CB8AC3E}">
        <p14:creationId xmlns:p14="http://schemas.microsoft.com/office/powerpoint/2010/main" val="31431724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B87173F-5482-85DD-BEA5-A1714A2B2CF6}"/>
              </a:ext>
            </a:extLst>
          </p:cNvPr>
          <p:cNvPicPr>
            <a:picLocks noChangeAspect="1"/>
          </p:cNvPicPr>
          <p:nvPr/>
        </p:nvPicPr>
        <p:blipFill>
          <a:blip r:embed="rId2"/>
          <a:stretch>
            <a:fillRect/>
          </a:stretch>
        </p:blipFill>
        <p:spPr>
          <a:xfrm>
            <a:off x="227871" y="3048000"/>
            <a:ext cx="2345267" cy="2865244"/>
          </a:xfrm>
          <a:prstGeom prst="rect">
            <a:avLst/>
          </a:prstGeom>
        </p:spPr>
      </p:pic>
      <p:pic>
        <p:nvPicPr>
          <p:cNvPr id="5" name="Picture 4" descr="A screenshot of a calendar&#10;&#10;AI-generated content may be incorrect.">
            <a:extLst>
              <a:ext uri="{FF2B5EF4-FFF2-40B4-BE49-F238E27FC236}">
                <a16:creationId xmlns:a16="http://schemas.microsoft.com/office/drawing/2014/main" id="{96821A1A-4D56-A8D6-3979-A0192435006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11344" y="0"/>
            <a:ext cx="3059311" cy="6096000"/>
          </a:xfrm>
          <a:prstGeom prst="rect">
            <a:avLst/>
          </a:prstGeom>
        </p:spPr>
      </p:pic>
      <p:pic>
        <p:nvPicPr>
          <p:cNvPr id="7" name="Picture 6" descr="A screenshot of a phone&#10;&#10;AI-generated content may be incorrect.">
            <a:extLst>
              <a:ext uri="{FF2B5EF4-FFF2-40B4-BE49-F238E27FC236}">
                <a16:creationId xmlns:a16="http://schemas.microsoft.com/office/drawing/2014/main" id="{5A6EBA1E-3428-F711-9A97-63F69985703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679666" y="431800"/>
            <a:ext cx="3059311" cy="6096000"/>
          </a:xfrm>
          <a:prstGeom prst="rect">
            <a:avLst/>
          </a:prstGeom>
        </p:spPr>
      </p:pic>
      <p:pic>
        <p:nvPicPr>
          <p:cNvPr id="9" name="Picture 8">
            <a:extLst>
              <a:ext uri="{FF2B5EF4-FFF2-40B4-BE49-F238E27FC236}">
                <a16:creationId xmlns:a16="http://schemas.microsoft.com/office/drawing/2014/main" id="{41627D53-B710-4C3A-CE72-24CF30587F1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738977" y="270933"/>
            <a:ext cx="3059311" cy="6256867"/>
          </a:xfrm>
          <a:prstGeom prst="rect">
            <a:avLst/>
          </a:prstGeom>
        </p:spPr>
      </p:pic>
      <p:sp>
        <p:nvSpPr>
          <p:cNvPr id="10" name="Title 9">
            <a:extLst>
              <a:ext uri="{FF2B5EF4-FFF2-40B4-BE49-F238E27FC236}">
                <a16:creationId xmlns:a16="http://schemas.microsoft.com/office/drawing/2014/main" id="{E48AB2DB-44AD-9F80-6A2C-F5E48AF3F959}"/>
              </a:ext>
            </a:extLst>
          </p:cNvPr>
          <p:cNvSpPr>
            <a:spLocks noGrp="1"/>
          </p:cNvSpPr>
          <p:nvPr>
            <p:ph type="title"/>
          </p:nvPr>
        </p:nvSpPr>
        <p:spPr>
          <a:xfrm>
            <a:off x="121345" y="1432773"/>
            <a:ext cx="2345265" cy="1325563"/>
          </a:xfrm>
        </p:spPr>
        <p:txBody>
          <a:bodyPr>
            <a:normAutofit/>
          </a:bodyPr>
          <a:lstStyle/>
          <a:p>
            <a:r>
              <a:rPr lang="en-US" sz="2000" dirty="0">
                <a:latin typeface="Cooper Black" panose="0208090404030B020404" pitchFamily="18" charset="0"/>
              </a:rPr>
              <a:t>NURTURA AI</a:t>
            </a:r>
          </a:p>
        </p:txBody>
      </p:sp>
      <p:pic>
        <p:nvPicPr>
          <p:cNvPr id="12" name="Picture 11" descr="A logo of a pregnant person&#10;&#10;AI-generated content may be incorrect.">
            <a:extLst>
              <a:ext uri="{FF2B5EF4-FFF2-40B4-BE49-F238E27FC236}">
                <a16:creationId xmlns:a16="http://schemas.microsoft.com/office/drawing/2014/main" id="{7D984E9A-FBC7-85EC-B347-597158CD116A}"/>
              </a:ext>
            </a:extLst>
          </p:cNvPr>
          <p:cNvPicPr>
            <a:picLocks noChangeAspect="1"/>
          </p:cNvPicPr>
          <p:nvPr/>
        </p:nvPicPr>
        <p:blipFill>
          <a:blip r:embed="rId6">
            <a:extLst>
              <a:ext uri="{28A0092B-C50C-407E-A947-70E740481C1C}">
                <a14:useLocalDpi xmlns:a14="http://schemas.microsoft.com/office/drawing/2010/main" val="0"/>
              </a:ext>
            </a:extLst>
          </a:blip>
          <a:srcRect t="10517" b="24042"/>
          <a:stretch>
            <a:fillRect/>
          </a:stretch>
        </p:blipFill>
        <p:spPr>
          <a:xfrm>
            <a:off x="85956" y="431800"/>
            <a:ext cx="1208021" cy="1000973"/>
          </a:xfrm>
          <a:prstGeom prst="rect">
            <a:avLst/>
          </a:prstGeom>
        </p:spPr>
      </p:pic>
    </p:spTree>
    <p:extLst>
      <p:ext uri="{BB962C8B-B14F-4D97-AF65-F5344CB8AC3E}">
        <p14:creationId xmlns:p14="http://schemas.microsoft.com/office/powerpoint/2010/main" val="34323512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766645F-76FC-5241-CD41-BAA222F38331}"/>
              </a:ext>
            </a:extLst>
          </p:cNvPr>
          <p:cNvSpPr txBox="1"/>
          <p:nvPr/>
        </p:nvSpPr>
        <p:spPr>
          <a:xfrm>
            <a:off x="508180" y="142103"/>
            <a:ext cx="8878920" cy="6401753"/>
          </a:xfrm>
          <a:prstGeom prst="rect">
            <a:avLst/>
          </a:prstGeom>
          <a:noFill/>
        </p:spPr>
        <p:txBody>
          <a:bodyPr wrap="square">
            <a:spAutoFit/>
          </a:bodyPr>
          <a:lstStyle/>
          <a:p>
            <a:pPr>
              <a:buNone/>
            </a:pPr>
            <a:r>
              <a:rPr lang="en-US" b="1" dirty="0"/>
              <a:t>🌱 </a:t>
            </a:r>
            <a:r>
              <a:rPr lang="en-US" sz="3200" b="1" dirty="0"/>
              <a:t>Impact &amp; Future Vision – </a:t>
            </a:r>
            <a:r>
              <a:rPr lang="en-US" sz="3200" b="1" dirty="0" err="1"/>
              <a:t>Nurtura</a:t>
            </a:r>
            <a:r>
              <a:rPr lang="en-US" sz="3200" b="1" dirty="0"/>
              <a:t> AI</a:t>
            </a:r>
          </a:p>
          <a:p>
            <a:pPr>
              <a:buNone/>
            </a:pPr>
            <a:r>
              <a:rPr lang="en-US" b="1" dirty="0"/>
              <a:t>💖 Impact</a:t>
            </a:r>
          </a:p>
          <a:p>
            <a:pPr>
              <a:buFont typeface="Arial" panose="020B0604020202020204" pitchFamily="34" charset="0"/>
              <a:buChar char="•"/>
            </a:pPr>
            <a:r>
              <a:rPr lang="en-US" dirty="0"/>
              <a:t>🌸 </a:t>
            </a:r>
            <a:r>
              <a:rPr lang="en-US" b="1" dirty="0"/>
              <a:t>Empowering Expectant Mothers:</a:t>
            </a:r>
            <a:br>
              <a:rPr lang="en-US" dirty="0"/>
            </a:br>
            <a:r>
              <a:rPr lang="en-US" dirty="0"/>
              <a:t>Provides personalized, AI-driven guidance to help women feel supported, confident, and cared for.</a:t>
            </a:r>
          </a:p>
          <a:p>
            <a:pPr>
              <a:buFont typeface="Arial" panose="020B0604020202020204" pitchFamily="34" charset="0"/>
              <a:buChar char="•"/>
            </a:pPr>
            <a:r>
              <a:rPr lang="en-US" dirty="0"/>
              <a:t>🩺 </a:t>
            </a:r>
            <a:r>
              <a:rPr lang="en-US" b="1" dirty="0"/>
              <a:t>Improved Maternal Health Awareness:</a:t>
            </a:r>
            <a:br>
              <a:rPr lang="en-US" dirty="0"/>
            </a:br>
            <a:r>
              <a:rPr lang="en-US" dirty="0"/>
              <a:t>Encourages timely checkups, better nutrition, and emotional stability.</a:t>
            </a:r>
          </a:p>
          <a:p>
            <a:pPr>
              <a:buFont typeface="Arial" panose="020B0604020202020204" pitchFamily="34" charset="0"/>
              <a:buChar char="•"/>
            </a:pPr>
            <a:r>
              <a:rPr lang="en-US" dirty="0"/>
              <a:t>🌍 </a:t>
            </a:r>
            <a:r>
              <a:rPr lang="en-US" b="1" dirty="0"/>
              <a:t>Bridging the Healthcare Gap:</a:t>
            </a:r>
            <a:br>
              <a:rPr lang="en-US" dirty="0"/>
            </a:br>
            <a:r>
              <a:rPr lang="en-US" dirty="0"/>
              <a:t>Brings digital pregnancy support to </a:t>
            </a:r>
            <a:r>
              <a:rPr lang="en-US" b="1" dirty="0"/>
              <a:t>rural and underserved communities</a:t>
            </a:r>
            <a:r>
              <a:rPr lang="en-US" dirty="0"/>
              <a:t> with multilingual and offline access.</a:t>
            </a:r>
          </a:p>
          <a:p>
            <a:pPr>
              <a:buFont typeface="Arial" panose="020B0604020202020204" pitchFamily="34" charset="0"/>
              <a:buChar char="•"/>
            </a:pPr>
            <a:r>
              <a:rPr lang="en-US" dirty="0"/>
              <a:t>🧠 </a:t>
            </a:r>
            <a:r>
              <a:rPr lang="en-US" b="1" dirty="0"/>
              <a:t>Data-Driven Insights:</a:t>
            </a:r>
            <a:br>
              <a:rPr lang="en-US" dirty="0"/>
            </a:br>
            <a:r>
              <a:rPr lang="en-US" dirty="0"/>
              <a:t>Aggregated (anonymous) data can help improve maternal health policies and care systems.</a:t>
            </a:r>
          </a:p>
          <a:p>
            <a:pPr>
              <a:buNone/>
            </a:pPr>
            <a:br>
              <a:rPr lang="en-US" dirty="0"/>
            </a:br>
            <a:endParaRPr lang="en-US" dirty="0"/>
          </a:p>
          <a:p>
            <a:pPr>
              <a:buNone/>
            </a:pPr>
            <a:r>
              <a:rPr lang="en-US" b="1" dirty="0"/>
              <a:t>🚀 Future Vision</a:t>
            </a:r>
          </a:p>
          <a:p>
            <a:pPr>
              <a:buFont typeface="Arial" panose="020B0604020202020204" pitchFamily="34" charset="0"/>
              <a:buChar char="•"/>
            </a:pPr>
            <a:r>
              <a:rPr lang="en-US" b="1" dirty="0"/>
              <a:t>Phase 1:</a:t>
            </a:r>
            <a:r>
              <a:rPr lang="en-US" dirty="0"/>
              <a:t> MVP – AI chatbot for pregnancy tips, reminders &amp; emotional wellness</a:t>
            </a:r>
          </a:p>
          <a:p>
            <a:pPr>
              <a:buFont typeface="Arial" panose="020B0604020202020204" pitchFamily="34" charset="0"/>
              <a:buChar char="•"/>
            </a:pPr>
            <a:r>
              <a:rPr lang="en-US" b="1" dirty="0"/>
              <a:t>Phase 2:</a:t>
            </a:r>
            <a:r>
              <a:rPr lang="en-US" dirty="0"/>
              <a:t> Integration with doctors and wearable devices</a:t>
            </a:r>
          </a:p>
          <a:p>
            <a:pPr>
              <a:buFont typeface="Arial" panose="020B0604020202020204" pitchFamily="34" charset="0"/>
              <a:buChar char="•"/>
            </a:pPr>
            <a:r>
              <a:rPr lang="en-US" b="1" dirty="0"/>
              <a:t>Phase 3:</a:t>
            </a:r>
            <a:r>
              <a:rPr lang="en-US" dirty="0"/>
              <a:t> Expansion into full </a:t>
            </a:r>
            <a:r>
              <a:rPr lang="en-US" b="1" dirty="0"/>
              <a:t>Women’s Wellness Ecosystem</a:t>
            </a:r>
            <a:r>
              <a:rPr lang="en-US" dirty="0"/>
              <a:t> (postnatal care, mental health, child growth tracking)</a:t>
            </a:r>
          </a:p>
          <a:p>
            <a:pPr>
              <a:buFont typeface="Arial" panose="020B0604020202020204" pitchFamily="34" charset="0"/>
              <a:buChar char="•"/>
            </a:pPr>
            <a:r>
              <a:rPr lang="en-US" b="1" dirty="0"/>
              <a:t>Long-Term Goal:</a:t>
            </a:r>
            <a:r>
              <a:rPr lang="en-US" dirty="0"/>
              <a:t> Make </a:t>
            </a:r>
            <a:r>
              <a:rPr lang="en-US" b="1" dirty="0" err="1"/>
              <a:t>Nurtura</a:t>
            </a:r>
            <a:r>
              <a:rPr lang="en-US" b="1" dirty="0"/>
              <a:t> AI</a:t>
            </a:r>
            <a:r>
              <a:rPr lang="en-US" dirty="0"/>
              <a:t> the trusted digital companion for women’s health globally 🌏</a:t>
            </a:r>
          </a:p>
        </p:txBody>
      </p:sp>
    </p:spTree>
    <p:extLst>
      <p:ext uri="{BB962C8B-B14F-4D97-AF65-F5344CB8AC3E}">
        <p14:creationId xmlns:p14="http://schemas.microsoft.com/office/powerpoint/2010/main" val="5491083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64FF1A-118E-C7F9-4250-6802801BCD50}"/>
              </a:ext>
            </a:extLst>
          </p:cNvPr>
          <p:cNvSpPr>
            <a:spLocks noGrp="1"/>
          </p:cNvSpPr>
          <p:nvPr>
            <p:ph type="title"/>
          </p:nvPr>
        </p:nvSpPr>
        <p:spPr>
          <a:xfrm>
            <a:off x="428017" y="369652"/>
            <a:ext cx="10919433" cy="3210127"/>
          </a:xfrm>
        </p:spPr>
        <p:txBody>
          <a:bodyPr>
            <a:normAutofit/>
          </a:bodyPr>
          <a:lstStyle/>
          <a:p>
            <a:r>
              <a:rPr lang="en-US" sz="2200" b="1" dirty="0"/>
              <a:t>⚙️ </a:t>
            </a:r>
            <a:r>
              <a:rPr lang="en-US" sz="3200" b="1" dirty="0"/>
              <a:t>Technology &amp; Uniqueness – </a:t>
            </a:r>
            <a:r>
              <a:rPr lang="en-US" sz="3200" b="1" dirty="0" err="1"/>
              <a:t>Nurtura</a:t>
            </a:r>
            <a:r>
              <a:rPr lang="en-US" sz="3200" b="1" dirty="0"/>
              <a:t> AI</a:t>
            </a:r>
            <a:br>
              <a:rPr lang="en-US" sz="2200" b="1" dirty="0"/>
            </a:br>
            <a:r>
              <a:rPr lang="en-US" sz="2200" b="1" dirty="0"/>
              <a:t>🧠 Tech Stack Overview</a:t>
            </a:r>
            <a:br>
              <a:rPr lang="en-US" sz="2200" b="1" dirty="0"/>
            </a:br>
            <a:r>
              <a:rPr lang="en-US" sz="2200" b="1" dirty="0"/>
              <a:t>Frontend:</a:t>
            </a:r>
            <a:r>
              <a:rPr lang="en-US" sz="2200" dirty="0"/>
              <a:t> Flutter (cross-platform app for Android &amp; iOS)</a:t>
            </a:r>
            <a:br>
              <a:rPr lang="en-US" sz="2200" dirty="0"/>
            </a:br>
            <a:r>
              <a:rPr lang="en-US" sz="2200" b="1" dirty="0"/>
              <a:t>Backend:</a:t>
            </a:r>
            <a:r>
              <a:rPr lang="en-US" sz="2200" dirty="0"/>
              <a:t> Firebase (authentication, real-time data, notifications)</a:t>
            </a:r>
            <a:br>
              <a:rPr lang="en-US" sz="2200" dirty="0"/>
            </a:br>
            <a:r>
              <a:rPr lang="en-US" sz="2200" b="1" dirty="0"/>
              <a:t>AI</a:t>
            </a:r>
            <a:r>
              <a:rPr lang="en-US" b="1" dirty="0"/>
              <a:t> </a:t>
            </a:r>
            <a:r>
              <a:rPr lang="en-US" sz="2200" b="1" dirty="0"/>
              <a:t>Engine:</a:t>
            </a:r>
            <a:r>
              <a:rPr lang="en-US" sz="2200" dirty="0"/>
              <a:t> OpenAI / Google Vertex AI for personalized pregnancy guidance</a:t>
            </a:r>
            <a:br>
              <a:rPr lang="en-US" sz="2200" dirty="0"/>
            </a:br>
            <a:r>
              <a:rPr lang="en-US" sz="2200" b="1" dirty="0"/>
              <a:t>Database:</a:t>
            </a:r>
            <a:r>
              <a:rPr lang="en-US" sz="2200" dirty="0"/>
              <a:t> </a:t>
            </a:r>
            <a:r>
              <a:rPr lang="en-US" sz="2200" dirty="0" err="1"/>
              <a:t>Firestore</a:t>
            </a:r>
            <a:r>
              <a:rPr lang="en-US" sz="2200" dirty="0"/>
              <a:t> for storing user data securely</a:t>
            </a:r>
            <a:br>
              <a:rPr lang="en-US" sz="2200" dirty="0"/>
            </a:br>
            <a:r>
              <a:rPr lang="en-US" sz="2200" b="1" dirty="0"/>
              <a:t>Optional Integration:</a:t>
            </a:r>
            <a:r>
              <a:rPr lang="en-US" sz="2200" dirty="0"/>
              <a:t> Smartwatch or wearable data for health tracking</a:t>
            </a:r>
            <a:br>
              <a:rPr lang="en-US" sz="2200" dirty="0"/>
            </a:br>
            <a:endParaRPr lang="en-US" sz="2200" dirty="0"/>
          </a:p>
        </p:txBody>
      </p:sp>
      <p:sp>
        <p:nvSpPr>
          <p:cNvPr id="3" name="Text Placeholder 2">
            <a:extLst>
              <a:ext uri="{FF2B5EF4-FFF2-40B4-BE49-F238E27FC236}">
                <a16:creationId xmlns:a16="http://schemas.microsoft.com/office/drawing/2014/main" id="{96EC2E15-3F11-435F-1267-8D2A3EB87470}"/>
              </a:ext>
            </a:extLst>
          </p:cNvPr>
          <p:cNvSpPr>
            <a:spLocks noGrp="1"/>
          </p:cNvSpPr>
          <p:nvPr>
            <p:ph type="body" idx="1"/>
          </p:nvPr>
        </p:nvSpPr>
        <p:spPr>
          <a:xfrm>
            <a:off x="428017" y="3429001"/>
            <a:ext cx="10919433" cy="3292812"/>
          </a:xfrm>
        </p:spPr>
        <p:txBody>
          <a:bodyPr>
            <a:normAutofit fontScale="85000" lnSpcReduction="20000"/>
          </a:bodyPr>
          <a:lstStyle/>
          <a:p>
            <a:r>
              <a:rPr lang="en-US" b="1">
                <a:solidFill>
                  <a:schemeClr val="tx1"/>
                </a:solidFill>
                <a:latin typeface="Arial" panose="020B0604020202020204" pitchFamily="34" charset="0"/>
                <a:cs typeface="Arial" panose="020B0604020202020204" pitchFamily="34" charset="0"/>
              </a:rPr>
              <a:t>💎 What Makes </a:t>
            </a:r>
            <a:r>
              <a:rPr lang="en-US" b="1" err="1">
                <a:solidFill>
                  <a:schemeClr val="tx1"/>
                </a:solidFill>
                <a:latin typeface="Arial" panose="020B0604020202020204" pitchFamily="34" charset="0"/>
                <a:cs typeface="Arial" panose="020B0604020202020204" pitchFamily="34" charset="0"/>
              </a:rPr>
              <a:t>Nurtura</a:t>
            </a:r>
            <a:r>
              <a:rPr lang="en-US" b="1">
                <a:solidFill>
                  <a:schemeClr val="tx1"/>
                </a:solidFill>
                <a:latin typeface="Arial" panose="020B0604020202020204" pitchFamily="34" charset="0"/>
                <a:cs typeface="Arial" panose="020B0604020202020204" pitchFamily="34" charset="0"/>
              </a:rPr>
              <a:t> AI Unique</a:t>
            </a:r>
          </a:p>
          <a:p>
            <a:r>
              <a:rPr lang="en-US">
                <a:solidFill>
                  <a:schemeClr val="tx1"/>
                </a:solidFill>
                <a:latin typeface="Arial" panose="020B0604020202020204" pitchFamily="34" charset="0"/>
                <a:cs typeface="Arial" panose="020B0604020202020204" pitchFamily="34" charset="0"/>
              </a:rPr>
              <a:t>🌸 </a:t>
            </a:r>
            <a:r>
              <a:rPr lang="en-US" b="1">
                <a:solidFill>
                  <a:schemeClr val="tx1"/>
                </a:solidFill>
                <a:latin typeface="Arial" panose="020B0604020202020204" pitchFamily="34" charset="0"/>
                <a:cs typeface="Arial" panose="020B0604020202020204" pitchFamily="34" charset="0"/>
              </a:rPr>
              <a:t>Personalized for the Indian Context</a:t>
            </a:r>
            <a:br>
              <a:rPr lang="en-US">
                <a:solidFill>
                  <a:schemeClr val="tx1"/>
                </a:solidFill>
                <a:latin typeface="Arial" panose="020B0604020202020204" pitchFamily="34" charset="0"/>
                <a:cs typeface="Arial" panose="020B0604020202020204" pitchFamily="34" charset="0"/>
              </a:rPr>
            </a:br>
            <a:r>
              <a:rPr lang="en-US">
                <a:solidFill>
                  <a:schemeClr val="tx1"/>
                </a:solidFill>
                <a:latin typeface="Arial" panose="020B0604020202020204" pitchFamily="34" charset="0"/>
                <a:cs typeface="Arial" panose="020B0604020202020204" pitchFamily="34" charset="0"/>
              </a:rPr>
              <a:t>Tailored guidance based on regional languages, diet, and lifestyle.</a:t>
            </a:r>
          </a:p>
          <a:p>
            <a:r>
              <a:rPr lang="en-US">
                <a:solidFill>
                  <a:schemeClr val="tx1"/>
                </a:solidFill>
                <a:latin typeface="Arial" panose="020B0604020202020204" pitchFamily="34" charset="0"/>
                <a:cs typeface="Arial" panose="020B0604020202020204" pitchFamily="34" charset="0"/>
              </a:rPr>
              <a:t>❤️ </a:t>
            </a:r>
            <a:r>
              <a:rPr lang="en-US" b="1">
                <a:solidFill>
                  <a:schemeClr val="tx1"/>
                </a:solidFill>
                <a:latin typeface="Arial" panose="020B0604020202020204" pitchFamily="34" charset="0"/>
                <a:cs typeface="Arial" panose="020B0604020202020204" pitchFamily="34" charset="0"/>
              </a:rPr>
              <a:t>Emotional + Medical Wellness Fusion</a:t>
            </a:r>
            <a:br>
              <a:rPr lang="en-US">
                <a:solidFill>
                  <a:schemeClr val="tx1"/>
                </a:solidFill>
                <a:latin typeface="Arial" panose="020B0604020202020204" pitchFamily="34" charset="0"/>
                <a:cs typeface="Arial" panose="020B0604020202020204" pitchFamily="34" charset="0"/>
              </a:rPr>
            </a:br>
            <a:r>
              <a:rPr lang="en-US">
                <a:solidFill>
                  <a:schemeClr val="tx1"/>
                </a:solidFill>
                <a:latin typeface="Arial" panose="020B0604020202020204" pitchFamily="34" charset="0"/>
                <a:cs typeface="Arial" panose="020B0604020202020204" pitchFamily="34" charset="0"/>
              </a:rPr>
              <a:t>Unlike typical pregnancy apps, </a:t>
            </a:r>
            <a:r>
              <a:rPr lang="en-US" err="1">
                <a:solidFill>
                  <a:schemeClr val="tx1"/>
                </a:solidFill>
                <a:latin typeface="Arial" panose="020B0604020202020204" pitchFamily="34" charset="0"/>
                <a:cs typeface="Arial" panose="020B0604020202020204" pitchFamily="34" charset="0"/>
              </a:rPr>
              <a:t>Nurtura</a:t>
            </a:r>
            <a:r>
              <a:rPr lang="en-US">
                <a:solidFill>
                  <a:schemeClr val="tx1"/>
                </a:solidFill>
                <a:latin typeface="Arial" panose="020B0604020202020204" pitchFamily="34" charset="0"/>
                <a:cs typeface="Arial" panose="020B0604020202020204" pitchFamily="34" charset="0"/>
              </a:rPr>
              <a:t> AI supports both physical and emotional wellbeing.</a:t>
            </a:r>
          </a:p>
          <a:p>
            <a:r>
              <a:rPr lang="en-US">
                <a:solidFill>
                  <a:schemeClr val="tx1"/>
                </a:solidFill>
                <a:latin typeface="Arial" panose="020B0604020202020204" pitchFamily="34" charset="0"/>
                <a:cs typeface="Arial" panose="020B0604020202020204" pitchFamily="34" charset="0"/>
              </a:rPr>
              <a:t>🗣️ </a:t>
            </a:r>
            <a:r>
              <a:rPr lang="en-US" b="1">
                <a:solidFill>
                  <a:schemeClr val="tx1"/>
                </a:solidFill>
                <a:latin typeface="Arial" panose="020B0604020202020204" pitchFamily="34" charset="0"/>
                <a:cs typeface="Arial" panose="020B0604020202020204" pitchFamily="34" charset="0"/>
              </a:rPr>
              <a:t>Voice and Chat-Based Interface</a:t>
            </a:r>
            <a:br>
              <a:rPr lang="en-US">
                <a:solidFill>
                  <a:schemeClr val="tx1"/>
                </a:solidFill>
                <a:latin typeface="Arial" panose="020B0604020202020204" pitchFamily="34" charset="0"/>
                <a:cs typeface="Arial" panose="020B0604020202020204" pitchFamily="34" charset="0"/>
              </a:rPr>
            </a:br>
            <a:r>
              <a:rPr lang="en-US">
                <a:solidFill>
                  <a:schemeClr val="tx1"/>
                </a:solidFill>
                <a:latin typeface="Arial" panose="020B0604020202020204" pitchFamily="34" charset="0"/>
                <a:cs typeface="Arial" panose="020B0604020202020204" pitchFamily="34" charset="0"/>
              </a:rPr>
              <a:t>Accessible for women with limited literacy — users can speak naturally in their language.</a:t>
            </a:r>
          </a:p>
          <a:p>
            <a:r>
              <a:rPr lang="en-US">
                <a:solidFill>
                  <a:schemeClr val="tx1"/>
                </a:solidFill>
                <a:latin typeface="Arial" panose="020B0604020202020204" pitchFamily="34" charset="0"/>
                <a:cs typeface="Arial" panose="020B0604020202020204" pitchFamily="34" charset="0"/>
              </a:rPr>
              <a:t>📶 </a:t>
            </a:r>
            <a:r>
              <a:rPr lang="en-US" b="1">
                <a:solidFill>
                  <a:schemeClr val="tx1"/>
                </a:solidFill>
                <a:latin typeface="Arial" panose="020B0604020202020204" pitchFamily="34" charset="0"/>
                <a:cs typeface="Arial" panose="020B0604020202020204" pitchFamily="34" charset="0"/>
              </a:rPr>
              <a:t>Offline Accessibility Mode</a:t>
            </a:r>
            <a:br>
              <a:rPr lang="en-US">
                <a:solidFill>
                  <a:schemeClr val="tx1"/>
                </a:solidFill>
                <a:latin typeface="Arial" panose="020B0604020202020204" pitchFamily="34" charset="0"/>
                <a:cs typeface="Arial" panose="020B0604020202020204" pitchFamily="34" charset="0"/>
              </a:rPr>
            </a:br>
            <a:r>
              <a:rPr lang="en-US">
                <a:solidFill>
                  <a:schemeClr val="tx1"/>
                </a:solidFill>
                <a:latin typeface="Arial" panose="020B0604020202020204" pitchFamily="34" charset="0"/>
                <a:cs typeface="Arial" panose="020B0604020202020204" pitchFamily="34" charset="0"/>
              </a:rPr>
              <a:t>Allows continued use even with limited internet connectivity.</a:t>
            </a:r>
          </a:p>
          <a:p>
            <a:r>
              <a:rPr lang="en-US">
                <a:solidFill>
                  <a:schemeClr val="tx1"/>
                </a:solidFill>
                <a:latin typeface="Arial" panose="020B0604020202020204" pitchFamily="34" charset="0"/>
                <a:cs typeface="Arial" panose="020B0604020202020204" pitchFamily="34" charset="0"/>
              </a:rPr>
              <a:t>🔒 </a:t>
            </a:r>
            <a:r>
              <a:rPr lang="en-US" b="1">
                <a:solidFill>
                  <a:schemeClr val="tx1"/>
                </a:solidFill>
                <a:latin typeface="Arial" panose="020B0604020202020204" pitchFamily="34" charset="0"/>
                <a:cs typeface="Arial" panose="020B0604020202020204" pitchFamily="34" charset="0"/>
              </a:rPr>
              <a:t>Privacy First Design</a:t>
            </a:r>
            <a:br>
              <a:rPr lang="en-US">
                <a:solidFill>
                  <a:schemeClr val="tx1"/>
                </a:solidFill>
                <a:latin typeface="Arial" panose="020B0604020202020204" pitchFamily="34" charset="0"/>
                <a:cs typeface="Arial" panose="020B0604020202020204" pitchFamily="34" charset="0"/>
              </a:rPr>
            </a:br>
            <a:r>
              <a:rPr lang="en-US">
                <a:solidFill>
                  <a:schemeClr val="tx1"/>
                </a:solidFill>
                <a:latin typeface="Arial" panose="020B0604020202020204" pitchFamily="34" charset="0"/>
                <a:cs typeface="Arial" panose="020B0604020202020204" pitchFamily="34" charset="0"/>
              </a:rPr>
              <a:t>Secure, encrypted user data storage and ethical AI use.</a:t>
            </a:r>
          </a:p>
          <a:p>
            <a:endParaRPr lang="en-US"/>
          </a:p>
        </p:txBody>
      </p:sp>
    </p:spTree>
    <p:extLst>
      <p:ext uri="{BB962C8B-B14F-4D97-AF65-F5344CB8AC3E}">
        <p14:creationId xmlns:p14="http://schemas.microsoft.com/office/powerpoint/2010/main" val="32643428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E586459-8F3E-D16D-3CAC-6EB2E47B5E1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600" y="381000"/>
            <a:ext cx="11988800" cy="6096000"/>
          </a:xfrm>
          <a:prstGeom prst="rect">
            <a:avLst/>
          </a:prstGeom>
        </p:spPr>
      </p:pic>
    </p:spTree>
    <p:extLst>
      <p:ext uri="{BB962C8B-B14F-4D97-AF65-F5344CB8AC3E}">
        <p14:creationId xmlns:p14="http://schemas.microsoft.com/office/powerpoint/2010/main" val="28311257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shot of a computer&#10;&#10;AI-generated content may be incorrect.">
            <a:extLst>
              <a:ext uri="{FF2B5EF4-FFF2-40B4-BE49-F238E27FC236}">
                <a16:creationId xmlns:a16="http://schemas.microsoft.com/office/drawing/2014/main" id="{B605538C-42B3-F309-2265-69CC96DD538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27000"/>
            <a:ext cx="12103100" cy="6375400"/>
          </a:xfrm>
          <a:prstGeom prst="rect">
            <a:avLst/>
          </a:prstGeom>
        </p:spPr>
      </p:pic>
    </p:spTree>
    <p:extLst>
      <p:ext uri="{BB962C8B-B14F-4D97-AF65-F5344CB8AC3E}">
        <p14:creationId xmlns:p14="http://schemas.microsoft.com/office/powerpoint/2010/main" val="21135172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3A5BA0-C5FD-FD66-ED0B-2700FE4A44A5}"/>
              </a:ext>
            </a:extLst>
          </p:cNvPr>
          <p:cNvSpPr>
            <a:spLocks noGrp="1"/>
          </p:cNvSpPr>
          <p:nvPr>
            <p:ph type="title"/>
          </p:nvPr>
        </p:nvSpPr>
        <p:spPr>
          <a:xfrm>
            <a:off x="331788" y="592666"/>
            <a:ext cx="10515600" cy="886355"/>
          </a:xfrm>
        </p:spPr>
        <p:txBody>
          <a:bodyPr>
            <a:normAutofit fontScale="90000"/>
          </a:bodyPr>
          <a:lstStyle/>
          <a:p>
            <a:br>
              <a:rPr lang="en-US" b="1" dirty="0"/>
            </a:br>
            <a:br>
              <a:rPr lang="en-US" b="1" dirty="0"/>
            </a:br>
            <a:br>
              <a:rPr lang="en-US" b="1" dirty="0"/>
            </a:br>
            <a:br>
              <a:rPr lang="en-US" b="1" dirty="0"/>
            </a:br>
            <a:br>
              <a:rPr lang="en-US" b="1" dirty="0"/>
            </a:br>
            <a:endParaRPr lang="en-US" sz="2000" dirty="0"/>
          </a:p>
        </p:txBody>
      </p:sp>
      <p:sp>
        <p:nvSpPr>
          <p:cNvPr id="10" name="TextBox 9">
            <a:extLst>
              <a:ext uri="{FF2B5EF4-FFF2-40B4-BE49-F238E27FC236}">
                <a16:creationId xmlns:a16="http://schemas.microsoft.com/office/drawing/2014/main" id="{C9670D9A-874E-6A6C-6517-895E4AE3F771}"/>
              </a:ext>
            </a:extLst>
          </p:cNvPr>
          <p:cNvSpPr txBox="1"/>
          <p:nvPr/>
        </p:nvSpPr>
        <p:spPr>
          <a:xfrm>
            <a:off x="228600" y="700881"/>
            <a:ext cx="11453812" cy="5940088"/>
          </a:xfrm>
          <a:prstGeom prst="rect">
            <a:avLst/>
          </a:prstGeom>
          <a:noFill/>
        </p:spPr>
        <p:txBody>
          <a:bodyPr wrap="square">
            <a:spAutoFit/>
          </a:bodyPr>
          <a:lstStyle/>
          <a:p>
            <a:r>
              <a:rPr lang="en-US" sz="2000" b="1" dirty="0"/>
              <a:t>🎯 </a:t>
            </a:r>
            <a:r>
              <a:rPr lang="en-US" sz="3600" b="1" dirty="0"/>
              <a:t>Target Audience of </a:t>
            </a:r>
            <a:r>
              <a:rPr lang="en-US" sz="3600" b="1" dirty="0" err="1"/>
              <a:t>Nurtura</a:t>
            </a:r>
            <a:r>
              <a:rPr lang="en-US" sz="3600" b="1" dirty="0"/>
              <a:t> AI </a:t>
            </a:r>
            <a:br>
              <a:rPr lang="en-US" sz="2000" dirty="0"/>
            </a:br>
            <a:r>
              <a:rPr lang="en-US" sz="2000" dirty="0" err="1"/>
              <a:t>Nurtura</a:t>
            </a:r>
            <a:r>
              <a:rPr lang="en-US" sz="2000" dirty="0"/>
              <a:t> AI is designed for </a:t>
            </a:r>
            <a:r>
              <a:rPr lang="en-US" sz="2000" b="1" dirty="0"/>
              <a:t>pregnant women in India (ages 20–40)</a:t>
            </a:r>
            <a:r>
              <a:rPr lang="en-US" sz="2000" dirty="0"/>
              <a:t> who seek </a:t>
            </a:r>
            <a:r>
              <a:rPr lang="en-US" sz="2000" b="1" dirty="0"/>
              <a:t>personalized,</a:t>
            </a:r>
            <a:r>
              <a:rPr lang="en-US" b="1" dirty="0"/>
              <a:t> </a:t>
            </a:r>
            <a:r>
              <a:rPr lang="en-US" sz="1800" b="1" dirty="0"/>
              <a:t>AI-based guidance</a:t>
            </a:r>
            <a:r>
              <a:rPr lang="en-US" sz="1800" dirty="0"/>
              <a:t> during pregnancy. It especially targets </a:t>
            </a:r>
            <a:r>
              <a:rPr lang="en-US" sz="1800" b="1" dirty="0"/>
              <a:t>first-time mothers</a:t>
            </a:r>
            <a:r>
              <a:rPr lang="en-US" sz="1800" dirty="0"/>
              <a:t> in </a:t>
            </a:r>
            <a:r>
              <a:rPr lang="en-US" sz="1800" b="1" dirty="0"/>
              <a:t>urban and semi-urban areas</a:t>
            </a:r>
            <a:r>
              <a:rPr lang="en-US" sz="1800" dirty="0"/>
              <a:t> who want </a:t>
            </a:r>
            <a:r>
              <a:rPr lang="en-US" sz="1800" b="1" dirty="0"/>
              <a:t>local-language support, culturally relevant nutrition advice, emotional care, and trustworthy medical insights.</a:t>
            </a:r>
            <a:br>
              <a:rPr lang="en-US" sz="1800" dirty="0"/>
            </a:br>
            <a:r>
              <a:rPr lang="en-US" sz="1800" b="1" dirty="0"/>
              <a:t>Secondary audience:</a:t>
            </a:r>
            <a:r>
              <a:rPr lang="en-US" sz="1800" dirty="0"/>
              <a:t> partners, postpartum mothers, and healthcare providers recommending digital pregnancy support tools.</a:t>
            </a:r>
          </a:p>
          <a:p>
            <a:endParaRPr lang="en-US" sz="1800" dirty="0"/>
          </a:p>
          <a:p>
            <a:br>
              <a:rPr lang="en-US" sz="1800" dirty="0"/>
            </a:br>
            <a:r>
              <a:rPr lang="en-US" sz="1800" b="1" dirty="0"/>
              <a:t>✅ Why This Audience Makes Sense for </a:t>
            </a:r>
            <a:r>
              <a:rPr lang="en-US" sz="1800" b="1" dirty="0" err="1"/>
              <a:t>Nurtura</a:t>
            </a:r>
            <a:r>
              <a:rPr lang="en-US" sz="1800" b="1" dirty="0"/>
              <a:t> AI</a:t>
            </a:r>
            <a:br>
              <a:rPr lang="en-US" sz="1800" b="1" dirty="0"/>
            </a:br>
            <a:r>
              <a:rPr lang="en-US" sz="1800" dirty="0"/>
              <a:t>According to market data, the India prenatal &amp; postpartum app market is growing rapidly — e.g., India’s pregnancy tracking &amp; postpartum care apps market expected to grow at ~19.9 % CAGR from 2024-2030. </a:t>
            </a:r>
            <a:r>
              <a:rPr lang="en-US" sz="1800" dirty="0">
                <a:hlinkClick r:id="rId2"/>
              </a:rPr>
              <a:t>Grand View Research+1</a:t>
            </a:r>
            <a:br>
              <a:rPr lang="en-US" sz="1800" dirty="0"/>
            </a:br>
            <a:r>
              <a:rPr lang="en-US" sz="1800" dirty="0"/>
              <a:t>Millennials &amp; Gen Z women are more likely to adopt digital health solutions. </a:t>
            </a:r>
            <a:r>
              <a:rPr lang="en-US" sz="1800" dirty="0">
                <a:hlinkClick r:id="rId3"/>
              </a:rPr>
              <a:t>FasterCapital+1</a:t>
            </a:r>
            <a:br>
              <a:rPr lang="en-US" sz="1800" dirty="0"/>
            </a:br>
            <a:r>
              <a:rPr lang="en-US" sz="1800" dirty="0"/>
              <a:t>By focusing on </a:t>
            </a:r>
            <a:r>
              <a:rPr lang="en-US" sz="1800" dirty="0" err="1"/>
              <a:t>personalisation</a:t>
            </a:r>
            <a:r>
              <a:rPr lang="en-US" sz="1800" dirty="0"/>
              <a:t> + regional/</a:t>
            </a:r>
            <a:r>
              <a:rPr lang="en-US" sz="1800" dirty="0" err="1"/>
              <a:t>localisation</a:t>
            </a:r>
            <a:r>
              <a:rPr lang="en-US" sz="1800" dirty="0"/>
              <a:t> + AI-driven insights, you tap into a niche where many existing apps are weaker.</a:t>
            </a:r>
            <a:br>
              <a:rPr lang="en-US" sz="1800" dirty="0"/>
            </a:br>
            <a:r>
              <a:rPr lang="en-US" sz="1800" dirty="0"/>
              <a:t>A well-defined target audience helps you design features, pick UX, marketing messaging clearly (for example “for Indian expecting mums who want </a:t>
            </a:r>
            <a:r>
              <a:rPr lang="en-US" sz="1800" dirty="0" err="1"/>
              <a:t>personalised</a:t>
            </a:r>
            <a:r>
              <a:rPr lang="en-US" sz="1800" dirty="0"/>
              <a:t>, culturally relevant pregnancy support”).</a:t>
            </a:r>
            <a:br>
              <a:rPr lang="en-US" sz="1800" dirty="0"/>
            </a:br>
            <a:br>
              <a:rPr lang="en-US" sz="1800" dirty="0"/>
            </a:br>
            <a:endParaRPr lang="en-US" dirty="0"/>
          </a:p>
        </p:txBody>
      </p:sp>
    </p:spTree>
    <p:extLst>
      <p:ext uri="{BB962C8B-B14F-4D97-AF65-F5344CB8AC3E}">
        <p14:creationId xmlns:p14="http://schemas.microsoft.com/office/powerpoint/2010/main" val="69623223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863</Words>
  <Application>Microsoft Office PowerPoint</Application>
  <PresentationFormat>Widescreen</PresentationFormat>
  <Paragraphs>46</Paragraphs>
  <Slides>9</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9</vt:i4>
      </vt:variant>
    </vt:vector>
  </HeadingPairs>
  <TitlesOfParts>
    <vt:vector size="16" baseType="lpstr">
      <vt:lpstr>Agency FB</vt:lpstr>
      <vt:lpstr>Aptos</vt:lpstr>
      <vt:lpstr>Aptos Display</vt:lpstr>
      <vt:lpstr>Arial</vt:lpstr>
      <vt:lpstr>Arial Black</vt:lpstr>
      <vt:lpstr>Cooper Black</vt:lpstr>
      <vt:lpstr>Office Theme</vt:lpstr>
      <vt:lpstr>NURTURA-AI Smart Companion for Pregnancy &amp; Women’s Wellness  TAGLINE- AI-powered care, comfort, and confidence for every mother.   TEAM NAME-TECHTOK TEAM MEMBERS- ANJALI SRIVASTAVA AND                                       SUNDRAM KUMAR TIWARI                                       RAJEEV KUMAR KAUSHIK  THEME-HEALTHTECH    </vt:lpstr>
      <vt:lpstr>PROBLEM STATEMENT- Pregnant women in India often face challenges in accessing reliable, personalized, and timely information about pregnancy, childcare, and maternal health, leading to anxiety, misinformation, and suboptimal health outcomes. Existing solutions are fragmented, and there's a need for a comprehensive, AI-driven platform that empowers expectant mothers with accurate guidance, support, and resources throughout their pregnancy journey.   </vt:lpstr>
      <vt:lpstr>PowerPoint Presentation</vt:lpstr>
      <vt:lpstr>NURTURA AI</vt:lpstr>
      <vt:lpstr>PowerPoint Presentation</vt:lpstr>
      <vt:lpstr>⚙️ Technology &amp; Uniqueness – Nurtura AI 🧠 Tech Stack Overview Frontend: Flutter (cross-platform app for Android &amp; iOS) Backend: Firebase (authentication, real-time data, notifications) AI Engine: OpenAI / Google Vertex AI for personalized pregnancy guidance Database: Firestore for storing user data securely Optional Integration: Smartwatch or wearable data for health tracking </vt:lpstr>
      <vt:lpstr>PowerPoint Presentation</vt:lpstr>
      <vt:lpstr>PowerPoint Presentation</vt:lpstr>
      <vt:lpstr>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anjali srivastava</dc:creator>
  <cp:lastModifiedBy>anjali srivastava</cp:lastModifiedBy>
  <cp:revision>1</cp:revision>
  <dcterms:created xsi:type="dcterms:W3CDTF">2025-10-29T10:02:26Z</dcterms:created>
  <dcterms:modified xsi:type="dcterms:W3CDTF">2025-11-06T10:14:38Z</dcterms:modified>
</cp:coreProperties>
</file>